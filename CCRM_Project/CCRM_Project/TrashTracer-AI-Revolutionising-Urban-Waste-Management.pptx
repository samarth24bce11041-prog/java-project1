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70" r:id="rId4"/>
    <p:sldId id="258" r:id="rId5"/>
    <p:sldId id="259" r:id="rId6"/>
    <p:sldId id="260" r:id="rId7"/>
    <p:sldId id="261" r:id="rId8"/>
    <p:sldId id="268" r:id="rId9"/>
    <p:sldId id="262" r:id="rId10"/>
    <p:sldId id="263" r:id="rId11"/>
    <p:sldId id="264" r:id="rId12"/>
    <p:sldId id="267" r:id="rId13"/>
    <p:sldId id="271" r:id="rId14"/>
    <p:sldId id="266" r:id="rId15"/>
    <p:sldId id="265" r:id="rId16"/>
  </p:sldIdLst>
  <p:sldSz cx="14630400" cy="8229600"/>
  <p:notesSz cx="8229600" cy="14630400"/>
  <p:embeddedFontLst>
    <p:embeddedFont>
      <p:font typeface="Inter" panose="020B0604020202020204" charset="0"/>
      <p:regular r:id="rId18"/>
    </p:embeddedFont>
    <p:embeddedFont>
      <p:font typeface="Manrope"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5" d="100"/>
          <a:sy n="55" d="100"/>
        </p:scale>
        <p:origin x="65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00784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0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0ED"/>
          </a:solidFill>
          <a:ln/>
        </p:spPr>
      </p:sp>
      <p:sp>
        <p:nvSpPr>
          <p:cNvPr id="3" name="Shape 1"/>
          <p:cNvSpPr/>
          <p:nvPr/>
        </p:nvSpPr>
        <p:spPr>
          <a:xfrm>
            <a:off x="0" y="0"/>
            <a:ext cx="14630400" cy="8229600"/>
          </a:xfrm>
          <a:prstGeom prst="rect">
            <a:avLst/>
          </a:prstGeom>
          <a:solidFill>
            <a:srgbClr val="FFF0ED"/>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0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0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0ED"/>
          </a:solidFill>
          <a:ln/>
        </p:spPr>
      </p:sp>
      <p:sp>
        <p:nvSpPr>
          <p:cNvPr id="3" name="Shape 1"/>
          <p:cNvSpPr/>
          <p:nvPr/>
        </p:nvSpPr>
        <p:spPr>
          <a:xfrm>
            <a:off x="0" y="0"/>
            <a:ext cx="14630400" cy="8229600"/>
          </a:xfrm>
          <a:prstGeom prst="rect">
            <a:avLst/>
          </a:prstGeom>
          <a:solidFill>
            <a:srgbClr val="FF704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0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0ED"/>
          </a:solidFill>
          <a:ln/>
        </p:spPr>
      </p:sp>
      <p:sp>
        <p:nvSpPr>
          <p:cNvPr id="3" name="Shape 1"/>
          <p:cNvSpPr/>
          <p:nvPr/>
        </p:nvSpPr>
        <p:spPr>
          <a:xfrm>
            <a:off x="0" y="0"/>
            <a:ext cx="14630400" cy="8229600"/>
          </a:xfrm>
          <a:prstGeom prst="rect">
            <a:avLst/>
          </a:prstGeom>
          <a:solidFill>
            <a:srgbClr val="FFF0ED"/>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0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0ED"/>
          </a:solidFill>
          <a:ln/>
        </p:spPr>
      </p:sp>
      <p:sp>
        <p:nvSpPr>
          <p:cNvPr id="3" name="Shape 1"/>
          <p:cNvSpPr/>
          <p:nvPr/>
        </p:nvSpPr>
        <p:spPr>
          <a:xfrm>
            <a:off x="0" y="0"/>
            <a:ext cx="14630400" cy="8229600"/>
          </a:xfrm>
          <a:prstGeom prst="rect">
            <a:avLst/>
          </a:prstGeom>
          <a:solidFill>
            <a:srgbClr val="FFA64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0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hyperlink" Target="mailto:info@trashtracer.ai" TargetMode="External"/><Relationship Id="rId2" Type="http://schemas.openxmlformats.org/officeDocument/2006/relationships/notesSlide" Target="../notesSlides/notesSlide10.xml"/><Relationship Id="rId1" Type="http://schemas.openxmlformats.org/officeDocument/2006/relationships/slideLayout" Target="../slideLayouts/slideLayout11.xml"/><Relationship Id="rId5" Type="http://schemas.openxmlformats.org/officeDocument/2006/relationships/image" Target="../media/image23.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5" name="Text 1"/>
          <p:cNvSpPr/>
          <p:nvPr/>
        </p:nvSpPr>
        <p:spPr>
          <a:xfrm>
            <a:off x="659758" y="1273216"/>
            <a:ext cx="7690454" cy="2291787"/>
          </a:xfrm>
          <a:prstGeom prst="rect">
            <a:avLst/>
          </a:prstGeom>
          <a:noFill/>
          <a:ln/>
        </p:spPr>
        <p:txBody>
          <a:bodyPr wrap="square" lIns="0" tIns="0" rIns="0" bIns="0" rtlCol="0" anchor="t"/>
          <a:lstStyle/>
          <a:p>
            <a:pPr marL="0" indent="0" algn="l">
              <a:lnSpc>
                <a:spcPts val="5550"/>
              </a:lnSpc>
              <a:buNone/>
            </a:pPr>
            <a:r>
              <a:rPr lang="en-US" sz="4450" b="1" dirty="0">
                <a:solidFill>
                  <a:srgbClr val="C00000"/>
                </a:solidFill>
                <a:latin typeface="Inter" pitchFamily="34" charset="0"/>
                <a:ea typeface="Inter" pitchFamily="34" charset="-122"/>
                <a:cs typeface="Inter" pitchFamily="34" charset="-120"/>
              </a:rPr>
              <a:t>TrashTracer AI: Revolutionising Urban Waste Management</a:t>
            </a:r>
            <a:endParaRPr lang="en-US" sz="4450" b="1" dirty="0">
              <a:solidFill>
                <a:srgbClr val="C00000"/>
              </a:solidFill>
            </a:endParaRPr>
          </a:p>
        </p:txBody>
      </p:sp>
      <p:sp>
        <p:nvSpPr>
          <p:cNvPr id="6" name="Text 2"/>
          <p:cNvSpPr/>
          <p:nvPr/>
        </p:nvSpPr>
        <p:spPr>
          <a:xfrm>
            <a:off x="726774" y="3388995"/>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55575A"/>
                </a:solidFill>
                <a:latin typeface="Manrope" pitchFamily="34" charset="0"/>
                <a:ea typeface="Manrope" pitchFamily="34" charset="-122"/>
                <a:cs typeface="Manrope" pitchFamily="34" charset="-120"/>
              </a:rPr>
              <a:t>Improving urban sanitation through smart, AI-driven solutions for municipal authorities.</a:t>
            </a:r>
            <a:endParaRPr lang="en-US" sz="1750" dirty="0"/>
          </a:p>
        </p:txBody>
      </p:sp>
      <p:pic>
        <p:nvPicPr>
          <p:cNvPr id="8" name="Picture 7">
            <a:extLst>
              <a:ext uri="{FF2B5EF4-FFF2-40B4-BE49-F238E27FC236}">
                <a16:creationId xmlns:a16="http://schemas.microsoft.com/office/drawing/2014/main" id="{EA3362D2-F54A-9768-1781-C6F95997699F}"/>
              </a:ext>
            </a:extLst>
          </p:cNvPr>
          <p:cNvPicPr>
            <a:picLocks noChangeAspect="1"/>
          </p:cNvPicPr>
          <p:nvPr/>
        </p:nvPicPr>
        <p:blipFill>
          <a:blip r:embed="rId4"/>
          <a:stretch>
            <a:fillRect/>
          </a:stretch>
        </p:blipFill>
        <p:spPr>
          <a:xfrm>
            <a:off x="578734" y="4213185"/>
            <a:ext cx="13530805" cy="378492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1"/>
          <p:cNvSpPr/>
          <p:nvPr/>
        </p:nvSpPr>
        <p:spPr>
          <a:xfrm>
            <a:off x="601884" y="2180510"/>
            <a:ext cx="13042821" cy="1088708"/>
          </a:xfrm>
          <a:prstGeom prst="rect">
            <a:avLst/>
          </a:prstGeom>
          <a:noFill/>
          <a:ln/>
        </p:spPr>
        <p:txBody>
          <a:bodyPr wrap="square" lIns="0" tIns="0" rIns="0" bIns="0" rtlCol="0" anchor="t"/>
          <a:lstStyle/>
          <a:p>
            <a:r>
              <a:rPr lang="en-US" sz="3600" b="1" dirty="0">
                <a:solidFill>
                  <a:srgbClr val="C00000"/>
                </a:solidFill>
              </a:rPr>
              <a:t>Problem Statement</a:t>
            </a:r>
            <a:r>
              <a:rPr lang="en-US" sz="2000" b="1" dirty="0"/>
              <a:t>:</a:t>
            </a:r>
            <a:r>
              <a:rPr lang="en-US" sz="2000" dirty="0"/>
              <a:t> </a:t>
            </a:r>
            <a:r>
              <a:rPr lang="en-US" sz="2400" dirty="0"/>
              <a:t>Urban authorities grapple with critical inefficiencies in waste management. From missed collections to fraudulent reporting, these issues culminate in unhygienic conditions, public dissatisfaction, and escalating municipal expenditure. The core problems are:</a:t>
            </a:r>
          </a:p>
          <a:p>
            <a:endParaRPr lang="en-US" sz="2400" dirty="0"/>
          </a:p>
          <a:p>
            <a:r>
              <a:rPr lang="en-US" sz="2400" b="1" dirty="0">
                <a:solidFill>
                  <a:srgbClr val="002060"/>
                </a:solidFill>
              </a:rPr>
              <a:t>Skipped Bins &amp; Fake Entries:</a:t>
            </a:r>
            <a:r>
              <a:rPr lang="en-US" sz="2400" dirty="0">
                <a:solidFill>
                  <a:srgbClr val="002060"/>
                </a:solidFill>
              </a:rPr>
              <a:t> </a:t>
            </a:r>
            <a:r>
              <a:rPr lang="en-US" sz="2400" dirty="0"/>
              <a:t>Lack of real-time verification leads to uncollected waste and false reports of completion by sanitation workers.</a:t>
            </a:r>
          </a:p>
          <a:p>
            <a:r>
              <a:rPr lang="en-US" sz="2400" b="1" dirty="0">
                <a:solidFill>
                  <a:srgbClr val="002060"/>
                </a:solidFill>
              </a:rPr>
              <a:t>Delayed Complaint Resolution:</a:t>
            </a:r>
            <a:r>
              <a:rPr lang="en-US" sz="2400" dirty="0">
                <a:solidFill>
                  <a:srgbClr val="002060"/>
                </a:solidFill>
              </a:rPr>
              <a:t> </a:t>
            </a:r>
            <a:r>
              <a:rPr lang="en-US" sz="2400" dirty="0"/>
              <a:t>Manual complaint systems are slow and disconnected from operational teams, causing citizen frustration and prolonged sanitation issues.</a:t>
            </a:r>
          </a:p>
          <a:p>
            <a:r>
              <a:rPr lang="en-US" sz="2400" b="1" dirty="0">
                <a:solidFill>
                  <a:srgbClr val="002060"/>
                </a:solidFill>
              </a:rPr>
              <a:t>Unforeseen Costs:</a:t>
            </a:r>
            <a:r>
              <a:rPr lang="en-US" sz="2400" dirty="0">
                <a:solidFill>
                  <a:srgbClr val="002060"/>
                </a:solidFill>
              </a:rPr>
              <a:t> </a:t>
            </a:r>
            <a:r>
              <a:rPr lang="en-US" sz="2400" dirty="0"/>
              <a:t>Inefficient routes, fuel wastage, and the need for manual supervision result in higher operational costs for municipalities.</a:t>
            </a:r>
          </a:p>
          <a:p>
            <a:endParaRPr lang="en-US" sz="1600" dirty="0"/>
          </a:p>
          <a:p>
            <a:endParaRPr lang="en-US" sz="1600" dirty="0"/>
          </a:p>
          <a:p>
            <a:r>
              <a:rPr lang="en-US" sz="2800" b="1" dirty="0">
                <a:solidFill>
                  <a:schemeClr val="accent2">
                    <a:lumMod val="50000"/>
                  </a:schemeClr>
                </a:solidFill>
              </a:rPr>
              <a:t>Proposed Solution (Brief):</a:t>
            </a:r>
            <a:r>
              <a:rPr lang="en-US" sz="2800" dirty="0">
                <a:solidFill>
                  <a:schemeClr val="accent2">
                    <a:lumMod val="50000"/>
                  </a:schemeClr>
                </a:solidFill>
              </a:rPr>
              <a:t> </a:t>
            </a:r>
            <a:r>
              <a:rPr lang="en-US" sz="2800" dirty="0"/>
              <a:t>To address these critical gaps, we propose </a:t>
            </a:r>
            <a:r>
              <a:rPr lang="en-US" sz="2800" b="1" dirty="0" err="1"/>
              <a:t>TrashTracer</a:t>
            </a:r>
            <a:r>
              <a:rPr lang="en-US" sz="2800" b="1" dirty="0"/>
              <a:t> AI</a:t>
            </a:r>
            <a:r>
              <a:rPr lang="en-US" sz="2800" dirty="0"/>
              <a:t>, an authority-centric command and control system designed to provide real-time oversight and data-driven insights.</a:t>
            </a:r>
          </a:p>
        </p:txBody>
      </p:sp>
      <p:sp>
        <p:nvSpPr>
          <p:cNvPr id="6" name="Text 4"/>
          <p:cNvSpPr/>
          <p:nvPr/>
        </p:nvSpPr>
        <p:spPr>
          <a:xfrm>
            <a:off x="601883" y="3619262"/>
            <a:ext cx="13368759" cy="2341700"/>
          </a:xfrm>
          <a:prstGeom prst="rect">
            <a:avLst/>
          </a:prstGeom>
          <a:noFill/>
          <a:ln/>
        </p:spPr>
        <p:txBody>
          <a:bodyPr wrap="square" lIns="0" tIns="0" rIns="0" bIns="0" rtlCol="0" anchor="t"/>
          <a:lstStyle/>
          <a:p>
            <a:pPr marL="0" indent="0" algn="l">
              <a:lnSpc>
                <a:spcPts val="2750"/>
              </a:lnSpc>
              <a:buNone/>
            </a:pPr>
            <a:endParaRPr lang="en-US" sz="2200" dirty="0"/>
          </a:p>
        </p:txBody>
      </p:sp>
      <p:sp>
        <p:nvSpPr>
          <p:cNvPr id="7" name="Text 5"/>
          <p:cNvSpPr/>
          <p:nvPr/>
        </p:nvSpPr>
        <p:spPr>
          <a:xfrm>
            <a:off x="1173004" y="5170765"/>
            <a:ext cx="3559850" cy="1088708"/>
          </a:xfrm>
          <a:prstGeom prst="rect">
            <a:avLst/>
          </a:prstGeom>
          <a:noFill/>
          <a:ln/>
        </p:spPr>
        <p:txBody>
          <a:bodyPr wrap="square" lIns="0" tIns="0" rIns="0" bIns="0" rtlCol="0" anchor="t"/>
          <a:lstStyle/>
          <a:p>
            <a:pPr marL="0" indent="0" algn="l">
              <a:lnSpc>
                <a:spcPts val="2850"/>
              </a:lnSpc>
              <a:buNone/>
            </a:pPr>
            <a:r>
              <a:rPr lang="en-US" sz="1750" dirty="0">
                <a:solidFill>
                  <a:srgbClr val="55575A"/>
                </a:solidFill>
                <a:latin typeface="Manrope" pitchFamily="34" charset="0"/>
                <a:ea typeface="Manrope" pitchFamily="34" charset="-122"/>
                <a:cs typeface="Manrope" pitchFamily="34" charset="-120"/>
              </a:rPr>
              <a:t>.</a:t>
            </a:r>
            <a:endParaRPr lang="en-US" sz="1750" dirty="0"/>
          </a:p>
        </p:txBody>
      </p:sp>
      <p:sp>
        <p:nvSpPr>
          <p:cNvPr id="10" name="Text 8"/>
          <p:cNvSpPr/>
          <p:nvPr/>
        </p:nvSpPr>
        <p:spPr>
          <a:xfrm>
            <a:off x="5025056" y="3619262"/>
            <a:ext cx="4130970" cy="1415415"/>
          </a:xfrm>
          <a:prstGeom prst="rect">
            <a:avLst/>
          </a:prstGeom>
          <a:noFill/>
          <a:ln/>
        </p:spPr>
        <p:txBody>
          <a:bodyPr wrap="square" lIns="0" tIns="0" rIns="0" bIns="0" rtlCol="0" anchor="t"/>
          <a:lstStyle/>
          <a:p>
            <a:pPr marL="0" indent="0" algn="l">
              <a:lnSpc>
                <a:spcPts val="2750"/>
              </a:lnSpc>
              <a:buNone/>
            </a:pPr>
            <a:endParaRPr lang="en-US" sz="2200" dirty="0"/>
          </a:p>
        </p:txBody>
      </p:sp>
      <p:sp>
        <p:nvSpPr>
          <p:cNvPr id="11" name="Text 9"/>
          <p:cNvSpPr/>
          <p:nvPr/>
        </p:nvSpPr>
        <p:spPr>
          <a:xfrm>
            <a:off x="5596176" y="5170765"/>
            <a:ext cx="3559850" cy="1088708"/>
          </a:xfrm>
          <a:prstGeom prst="rect">
            <a:avLst/>
          </a:prstGeom>
          <a:noFill/>
          <a:ln/>
        </p:spPr>
        <p:txBody>
          <a:bodyPr wrap="square" lIns="0" tIns="0" rIns="0" bIns="0" rtlCol="0" anchor="t"/>
          <a:lstStyle/>
          <a:p>
            <a:pPr marL="0" indent="0" algn="l">
              <a:lnSpc>
                <a:spcPts val="2850"/>
              </a:lnSpc>
              <a:buNone/>
            </a:pPr>
            <a:endParaRPr lang="en-US" sz="1750" dirty="0"/>
          </a:p>
        </p:txBody>
      </p:sp>
      <p:sp>
        <p:nvSpPr>
          <p:cNvPr id="15" name="Text 13"/>
          <p:cNvSpPr/>
          <p:nvPr/>
        </p:nvSpPr>
        <p:spPr>
          <a:xfrm>
            <a:off x="10019348" y="4816435"/>
            <a:ext cx="3559850" cy="1451610"/>
          </a:xfrm>
          <a:prstGeom prst="rect">
            <a:avLst/>
          </a:prstGeom>
          <a:noFill/>
          <a:ln/>
        </p:spPr>
        <p:txBody>
          <a:bodyPr wrap="square" lIns="0" tIns="0" rIns="0" bIns="0" rtlCol="0" anchor="t"/>
          <a:lstStyle/>
          <a:p>
            <a:pPr marL="0" indent="0" algn="l">
              <a:lnSpc>
                <a:spcPts val="2850"/>
              </a:lnSpc>
              <a:buNone/>
            </a:pPr>
            <a:endParaRPr lang="en-US" sz="1750" dirty="0"/>
          </a:p>
        </p:txBody>
      </p:sp>
      <p:sp>
        <p:nvSpPr>
          <p:cNvPr id="19" name="TextBox 18">
            <a:extLst>
              <a:ext uri="{FF2B5EF4-FFF2-40B4-BE49-F238E27FC236}">
                <a16:creationId xmlns:a16="http://schemas.microsoft.com/office/drawing/2014/main" id="{D65E00D0-F9F8-B724-6CD2-B797ED89CA5F}"/>
              </a:ext>
            </a:extLst>
          </p:cNvPr>
          <p:cNvSpPr txBox="1"/>
          <p:nvPr/>
        </p:nvSpPr>
        <p:spPr>
          <a:xfrm>
            <a:off x="3465694" y="-28427"/>
            <a:ext cx="9208584" cy="707886"/>
          </a:xfrm>
          <a:prstGeom prst="rect">
            <a:avLst/>
          </a:prstGeom>
          <a:noFill/>
        </p:spPr>
        <p:txBody>
          <a:bodyPr wrap="square">
            <a:spAutoFit/>
          </a:bodyPr>
          <a:lstStyle/>
          <a:p>
            <a:r>
              <a:rPr lang="en-IN" sz="4000" b="1" dirty="0">
                <a:solidFill>
                  <a:srgbClr val="FF0000"/>
                </a:solidFill>
              </a:rPr>
              <a:t>Introduction &amp; Problem Statement</a:t>
            </a:r>
          </a:p>
        </p:txBody>
      </p:sp>
      <p:sp>
        <p:nvSpPr>
          <p:cNvPr id="21" name="TextBox 20">
            <a:extLst>
              <a:ext uri="{FF2B5EF4-FFF2-40B4-BE49-F238E27FC236}">
                <a16:creationId xmlns:a16="http://schemas.microsoft.com/office/drawing/2014/main" id="{93DF366F-0A51-2A9E-68B3-20AF1F421671}"/>
              </a:ext>
            </a:extLst>
          </p:cNvPr>
          <p:cNvSpPr txBox="1"/>
          <p:nvPr/>
        </p:nvSpPr>
        <p:spPr>
          <a:xfrm>
            <a:off x="567159" y="856327"/>
            <a:ext cx="12014521" cy="2246769"/>
          </a:xfrm>
          <a:prstGeom prst="rect">
            <a:avLst/>
          </a:prstGeom>
          <a:noFill/>
        </p:spPr>
        <p:txBody>
          <a:bodyPr wrap="square">
            <a:spAutoFit/>
          </a:bodyPr>
          <a:lstStyle/>
          <a:p>
            <a:r>
              <a:rPr lang="en-US" sz="3600" b="1" dirty="0">
                <a:solidFill>
                  <a:schemeClr val="accent2">
                    <a:lumMod val="50000"/>
                  </a:schemeClr>
                </a:solidFill>
              </a:rPr>
              <a:t>Introduction</a:t>
            </a:r>
            <a:r>
              <a:rPr lang="en-US" sz="2000" b="1" dirty="0">
                <a:solidFill>
                  <a:schemeClr val="accent2">
                    <a:lumMod val="50000"/>
                  </a:schemeClr>
                </a:solidFill>
              </a:rPr>
              <a:t>:</a:t>
            </a:r>
            <a:r>
              <a:rPr lang="en-US" sz="2000" dirty="0">
                <a:solidFill>
                  <a:schemeClr val="accent2">
                    <a:lumMod val="50000"/>
                  </a:schemeClr>
                </a:solidFill>
              </a:rPr>
              <a:t> </a:t>
            </a:r>
            <a:r>
              <a:rPr lang="en-US" sz="2400" dirty="0"/>
              <a:t>As urban populations grow, municipal authorities face escalating challenges in effective waste management. The lack of real-time, verifiable data creates a significant gap between planned operations and on-the-ground reality.</a:t>
            </a:r>
          </a:p>
          <a:p>
            <a:endParaRPr lang="en-US" sz="2800" dirty="0"/>
          </a:p>
          <a:p>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C33DF3-B3AF-D762-8074-2835DD8ACE96}"/>
              </a:ext>
            </a:extLst>
          </p:cNvPr>
          <p:cNvSpPr txBox="1"/>
          <p:nvPr/>
        </p:nvSpPr>
        <p:spPr>
          <a:xfrm>
            <a:off x="3541853" y="88396"/>
            <a:ext cx="8322198" cy="707886"/>
          </a:xfrm>
          <a:prstGeom prst="rect">
            <a:avLst/>
          </a:prstGeom>
          <a:noFill/>
        </p:spPr>
        <p:txBody>
          <a:bodyPr wrap="square">
            <a:spAutoFit/>
          </a:bodyPr>
          <a:lstStyle/>
          <a:p>
            <a:r>
              <a:rPr lang="en-IN" sz="4000" b="1" dirty="0">
                <a:solidFill>
                  <a:srgbClr val="C00000"/>
                </a:solidFill>
              </a:rPr>
              <a:t>Literature Review &amp; Existing Work</a:t>
            </a:r>
          </a:p>
        </p:txBody>
      </p:sp>
      <p:sp>
        <p:nvSpPr>
          <p:cNvPr id="5" name="TextBox 4">
            <a:extLst>
              <a:ext uri="{FF2B5EF4-FFF2-40B4-BE49-F238E27FC236}">
                <a16:creationId xmlns:a16="http://schemas.microsoft.com/office/drawing/2014/main" id="{D8C667BB-F8F3-E434-40A9-D4E315211691}"/>
              </a:ext>
            </a:extLst>
          </p:cNvPr>
          <p:cNvSpPr txBox="1"/>
          <p:nvPr/>
        </p:nvSpPr>
        <p:spPr>
          <a:xfrm>
            <a:off x="717631" y="796282"/>
            <a:ext cx="11829326" cy="1384995"/>
          </a:xfrm>
          <a:prstGeom prst="rect">
            <a:avLst/>
          </a:prstGeom>
          <a:noFill/>
        </p:spPr>
        <p:txBody>
          <a:bodyPr wrap="square">
            <a:spAutoFit/>
          </a:bodyPr>
          <a:lstStyle/>
          <a:p>
            <a:r>
              <a:rPr lang="en-US" sz="3600" b="1" dirty="0"/>
              <a:t>Introduction</a:t>
            </a:r>
            <a:r>
              <a:rPr lang="en-US" sz="2000" b="1" dirty="0"/>
              <a:t>:</a:t>
            </a:r>
            <a:r>
              <a:rPr lang="en-US" sz="2000" dirty="0"/>
              <a:t> </a:t>
            </a:r>
            <a:r>
              <a:rPr lang="en-US" sz="2400" dirty="0"/>
              <a:t>A review of current waste management systems reveals significant limitations in accountability, efficiency, and data integration. Existing methods fall into four main categories, each with critical flaws.</a:t>
            </a:r>
            <a:endParaRPr lang="en-IN" sz="2400" dirty="0"/>
          </a:p>
        </p:txBody>
      </p:sp>
      <p:sp>
        <p:nvSpPr>
          <p:cNvPr id="10" name="Rectangle: Rounded Corners 9">
            <a:extLst>
              <a:ext uri="{FF2B5EF4-FFF2-40B4-BE49-F238E27FC236}">
                <a16:creationId xmlns:a16="http://schemas.microsoft.com/office/drawing/2014/main" id="{4FE2768A-ADDD-4186-F4C0-907395387420}"/>
              </a:ext>
            </a:extLst>
          </p:cNvPr>
          <p:cNvSpPr/>
          <p:nvPr/>
        </p:nvSpPr>
        <p:spPr>
          <a:xfrm>
            <a:off x="289371" y="2233914"/>
            <a:ext cx="4572000" cy="590729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1400" b="1" dirty="0"/>
              <a:t>. </a:t>
            </a:r>
            <a:r>
              <a:rPr lang="en-US" sz="2400" b="1" dirty="0"/>
              <a:t>Manual Supervision &amp; Paper-Based Reporting</a:t>
            </a:r>
            <a:endParaRPr lang="en-US" sz="2400" dirty="0"/>
          </a:p>
          <a:p>
            <a:r>
              <a:rPr lang="en-US" b="1" dirty="0"/>
              <a:t>Description</a:t>
            </a:r>
            <a:r>
              <a:rPr lang="en-US" sz="1400" b="1" dirty="0"/>
              <a:t>:</a:t>
            </a:r>
            <a:r>
              <a:rPr lang="en-US" sz="1400" dirty="0"/>
              <a:t> This is the traditional method, relying on supervisors to physically monitor routes and workers to maintain manual logbooks of their activity.</a:t>
            </a:r>
          </a:p>
          <a:p>
            <a:r>
              <a:rPr lang="en-US" sz="2400" b="1" dirty="0">
                <a:solidFill>
                  <a:srgbClr val="FF0000"/>
                </a:solidFill>
              </a:rPr>
              <a:t>Limitations:</a:t>
            </a:r>
            <a:endParaRPr lang="en-US" sz="2400" dirty="0">
              <a:solidFill>
                <a:srgbClr val="FF0000"/>
              </a:solidFill>
            </a:endParaRPr>
          </a:p>
          <a:p>
            <a:pPr lvl="1"/>
            <a:r>
              <a:rPr lang="en-US" sz="1600" b="1" dirty="0">
                <a:solidFill>
                  <a:srgbClr val="002060"/>
                </a:solidFill>
              </a:rPr>
              <a:t>No Verifiable Data:</a:t>
            </a:r>
            <a:r>
              <a:rPr lang="en-US" sz="1600" dirty="0">
                <a:solidFill>
                  <a:srgbClr val="002060"/>
                </a:solidFill>
              </a:rPr>
              <a:t> </a:t>
            </a:r>
            <a:r>
              <a:rPr lang="en-US" sz="1600" dirty="0"/>
              <a:t>It operates on trust and is extremely vulnerable to fraudulent entries and "ghost" reporting. Authorities have no way to digitally verify if a location was actually serviced.</a:t>
            </a:r>
          </a:p>
          <a:p>
            <a:pPr lvl="1"/>
            <a:r>
              <a:rPr lang="en-US" sz="1600" b="1" dirty="0">
                <a:solidFill>
                  <a:srgbClr val="002060"/>
                </a:solidFill>
              </a:rPr>
              <a:t>High Operational Overhead</a:t>
            </a:r>
            <a:r>
              <a:rPr lang="en-US" sz="1600" b="1" dirty="0"/>
              <a:t>:</a:t>
            </a:r>
            <a:r>
              <a:rPr lang="en-US" sz="1600" dirty="0"/>
              <a:t> Requires a large supervisory staff, making it expensive and impossible to scale effectively across a large urban area.</a:t>
            </a:r>
          </a:p>
          <a:p>
            <a:pPr lvl="1"/>
            <a:r>
              <a:rPr lang="en-US" sz="1600" b="1" dirty="0">
                <a:solidFill>
                  <a:srgbClr val="002060"/>
                </a:solidFill>
              </a:rPr>
              <a:t>Completely Reactive:</a:t>
            </a:r>
            <a:r>
              <a:rPr lang="en-US" sz="1600" dirty="0">
                <a:solidFill>
                  <a:srgbClr val="002060"/>
                </a:solidFill>
              </a:rPr>
              <a:t> </a:t>
            </a:r>
            <a:r>
              <a:rPr lang="en-US" sz="1600" dirty="0"/>
              <a:t>Issues are only discovered hours or days later, after citizens have already been inconvenienced.</a:t>
            </a:r>
          </a:p>
          <a:p>
            <a:pPr algn="ctr"/>
            <a:endParaRPr lang="en-IN" dirty="0"/>
          </a:p>
        </p:txBody>
      </p:sp>
      <p:sp>
        <p:nvSpPr>
          <p:cNvPr id="11" name="Rectangle: Rounded Corners 10">
            <a:extLst>
              <a:ext uri="{FF2B5EF4-FFF2-40B4-BE49-F238E27FC236}">
                <a16:creationId xmlns:a16="http://schemas.microsoft.com/office/drawing/2014/main" id="{D863092F-F5D1-A364-61EF-2704F59549F0}"/>
              </a:ext>
            </a:extLst>
          </p:cNvPr>
          <p:cNvSpPr/>
          <p:nvPr/>
        </p:nvSpPr>
        <p:spPr>
          <a:xfrm>
            <a:off x="5289632" y="2233914"/>
            <a:ext cx="4572000" cy="5907290"/>
          </a:xfrm>
          <a:prstGeom prst="roundRect">
            <a:avLst>
              <a:gd name="adj" fmla="val 9072"/>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400" b="1" dirty="0"/>
              <a:t>Collector-Side Smartphone GPS Tracking</a:t>
            </a:r>
            <a:endParaRPr lang="en-US" sz="2400" dirty="0"/>
          </a:p>
          <a:p>
            <a:r>
              <a:rPr lang="en-US" b="1" dirty="0"/>
              <a:t>Description:</a:t>
            </a:r>
            <a:r>
              <a:rPr lang="en-US" dirty="0"/>
              <a:t> </a:t>
            </a:r>
            <a:r>
              <a:rPr lang="en-US" sz="1600" dirty="0"/>
              <a:t>A common upgrade where sanitation workers use a GPS-enabled app on their personal or work-provided smartphones to track their routes.</a:t>
            </a:r>
          </a:p>
          <a:p>
            <a:r>
              <a:rPr lang="en-US" sz="2400" b="1" dirty="0">
                <a:solidFill>
                  <a:srgbClr val="FF0000"/>
                </a:solidFill>
              </a:rPr>
              <a:t>Limitations:</a:t>
            </a:r>
            <a:endParaRPr lang="en-US" sz="2400" dirty="0">
              <a:solidFill>
                <a:srgbClr val="FF0000"/>
              </a:solidFill>
            </a:endParaRPr>
          </a:p>
          <a:p>
            <a:pPr lvl="1"/>
            <a:r>
              <a:rPr lang="en-US" sz="1600" b="1" dirty="0">
                <a:solidFill>
                  <a:srgbClr val="002060"/>
                </a:solidFill>
              </a:rPr>
              <a:t>Weak Accountability Loop:</a:t>
            </a:r>
            <a:r>
              <a:rPr lang="en-US" sz="1600" dirty="0">
                <a:solidFill>
                  <a:srgbClr val="002060"/>
                </a:solidFill>
              </a:rPr>
              <a:t> </a:t>
            </a:r>
            <a:r>
              <a:rPr lang="en-US" sz="1600" dirty="0"/>
              <a:t>This method tracks the </a:t>
            </a:r>
            <a:r>
              <a:rPr lang="en-US" sz="1600" b="1" dirty="0"/>
              <a:t>device</a:t>
            </a:r>
            <a:r>
              <a:rPr lang="en-US" sz="1600" dirty="0"/>
              <a:t>, not the </a:t>
            </a:r>
            <a:r>
              <a:rPr lang="en-US" sz="1600" b="1" dirty="0"/>
              <a:t>person</a:t>
            </a:r>
            <a:r>
              <a:rPr lang="en-US" sz="1600" dirty="0"/>
              <a:t>. A worker can simply leave the phone in the vehicle while skipping a street, completely defeating the purpose of the tracking.</a:t>
            </a:r>
          </a:p>
          <a:p>
            <a:pPr lvl="1"/>
            <a:r>
              <a:rPr lang="en-US" sz="1600" b="1" dirty="0">
                <a:solidFill>
                  <a:srgbClr val="002060"/>
                </a:solidFill>
              </a:rPr>
              <a:t>High Potential for Manipulation:</a:t>
            </a:r>
            <a:r>
              <a:rPr lang="en-US" sz="1600" dirty="0">
                <a:solidFill>
                  <a:srgbClr val="002060"/>
                </a:solidFill>
              </a:rPr>
              <a:t> </a:t>
            </a:r>
            <a:r>
              <a:rPr lang="en-US" sz="1600" dirty="0"/>
              <a:t>Workers can easily turn off GPS, use "mock location" apps, or claim the phone's battery has died. This puts the control in the hands of the worker, not the authority.</a:t>
            </a:r>
          </a:p>
          <a:p>
            <a:pPr lvl="1"/>
            <a:r>
              <a:rPr lang="en-US" sz="1600" b="1" dirty="0">
                <a:solidFill>
                  <a:srgbClr val="002060"/>
                </a:solidFill>
              </a:rPr>
              <a:t>Dependency on Worker's Device:</a:t>
            </a:r>
            <a:r>
              <a:rPr lang="en-US" sz="1600" dirty="0">
                <a:solidFill>
                  <a:srgbClr val="002060"/>
                </a:solidFill>
              </a:rPr>
              <a:t> </a:t>
            </a:r>
            <a:r>
              <a:rPr lang="en-US" sz="1600" dirty="0"/>
              <a:t>Relies on the worker having a compatible, charged, and functioning smartphone.</a:t>
            </a:r>
          </a:p>
        </p:txBody>
      </p:sp>
      <p:sp>
        <p:nvSpPr>
          <p:cNvPr id="12" name="Rectangle: Rounded Corners 11">
            <a:extLst>
              <a:ext uri="{FF2B5EF4-FFF2-40B4-BE49-F238E27FC236}">
                <a16:creationId xmlns:a16="http://schemas.microsoft.com/office/drawing/2014/main" id="{806E961A-2958-DC2B-E561-C924022C83F7}"/>
              </a:ext>
            </a:extLst>
          </p:cNvPr>
          <p:cNvSpPr/>
          <p:nvPr/>
        </p:nvSpPr>
        <p:spPr>
          <a:xfrm>
            <a:off x="10289894" y="2233914"/>
            <a:ext cx="4236334" cy="590729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5" name="TextBox 14">
            <a:extLst>
              <a:ext uri="{FF2B5EF4-FFF2-40B4-BE49-F238E27FC236}">
                <a16:creationId xmlns:a16="http://schemas.microsoft.com/office/drawing/2014/main" id="{582CDFB0-E04D-1A9D-EE38-651261DADE61}"/>
              </a:ext>
            </a:extLst>
          </p:cNvPr>
          <p:cNvSpPr txBox="1"/>
          <p:nvPr/>
        </p:nvSpPr>
        <p:spPr>
          <a:xfrm flipH="1">
            <a:off x="10544535" y="2615877"/>
            <a:ext cx="3796493" cy="4924425"/>
          </a:xfrm>
          <a:prstGeom prst="rect">
            <a:avLst/>
          </a:prstGeom>
          <a:noFill/>
        </p:spPr>
        <p:txBody>
          <a:bodyPr wrap="square">
            <a:spAutoFit/>
          </a:bodyPr>
          <a:lstStyle/>
          <a:p>
            <a:pPr>
              <a:buNone/>
            </a:pPr>
            <a:r>
              <a:rPr lang="en-US" sz="2400" b="1" dirty="0"/>
              <a:t>Disconnected Citizen Complaint Portals</a:t>
            </a:r>
            <a:endParaRPr lang="en-US" sz="2400" dirty="0"/>
          </a:p>
          <a:p>
            <a:pPr>
              <a:buFont typeface="Arial" panose="020B0604020202020204" pitchFamily="34" charset="0"/>
              <a:buChar char="•"/>
            </a:pPr>
            <a:r>
              <a:rPr lang="en-US" b="1" dirty="0"/>
              <a:t>Description</a:t>
            </a:r>
            <a:r>
              <a:rPr lang="en-US" sz="1400" b="1" dirty="0"/>
              <a:t>:</a:t>
            </a:r>
            <a:r>
              <a:rPr lang="en-US" sz="1400" dirty="0"/>
              <a:t> </a:t>
            </a:r>
            <a:r>
              <a:rPr lang="en-US" sz="1600" dirty="0"/>
              <a:t>Municipalities often have a separate website or a generic city app where citizens can log complaints about uncollected waste.</a:t>
            </a:r>
          </a:p>
          <a:p>
            <a:r>
              <a:rPr lang="en-US" sz="2400" b="1" dirty="0">
                <a:solidFill>
                  <a:srgbClr val="FF0000"/>
                </a:solidFill>
              </a:rPr>
              <a:t>Limitations :</a:t>
            </a:r>
            <a:endParaRPr lang="en-US" sz="2400" dirty="0">
              <a:solidFill>
                <a:srgbClr val="FF0000"/>
              </a:solidFill>
            </a:endParaRPr>
          </a:p>
          <a:p>
            <a:r>
              <a:rPr lang="en-US" sz="1600" b="1" dirty="0">
                <a:solidFill>
                  <a:srgbClr val="002060"/>
                </a:solidFill>
              </a:rPr>
              <a:t>Lack of Real-Time Integration:</a:t>
            </a:r>
            <a:r>
              <a:rPr lang="en-US" sz="1600" dirty="0">
                <a:solidFill>
                  <a:srgbClr val="002060"/>
                </a:solidFill>
              </a:rPr>
              <a:t> </a:t>
            </a:r>
            <a:r>
              <a:rPr lang="en-US" sz="1600" dirty="0"/>
              <a:t>These portals are typically just digital suggestion boxes. The complaint is logged in one system and has to be manually viewed and forwarded to the sanitation department, causing significant delays.</a:t>
            </a:r>
          </a:p>
          <a:p>
            <a:r>
              <a:rPr lang="en-US" sz="1600" b="1" dirty="0">
                <a:solidFill>
                  <a:srgbClr val="002060"/>
                </a:solidFill>
              </a:rPr>
              <a:t>No Automated Verification:</a:t>
            </a:r>
            <a:r>
              <a:rPr lang="en-US" sz="1600" dirty="0">
                <a:solidFill>
                  <a:srgbClr val="002060"/>
                </a:solidFill>
              </a:rPr>
              <a:t> </a:t>
            </a:r>
            <a:r>
              <a:rPr lang="en-US" sz="1600" dirty="0"/>
              <a:t>There is no system to automatically cross-reference a citizen's complaint with the assigned worker's real-time location data to instantly verify the issue.</a:t>
            </a:r>
          </a:p>
        </p:txBody>
      </p:sp>
    </p:spTree>
    <p:extLst>
      <p:ext uri="{BB962C8B-B14F-4D97-AF65-F5344CB8AC3E}">
        <p14:creationId xmlns:p14="http://schemas.microsoft.com/office/powerpoint/2010/main" val="25867582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623139" y="0"/>
            <a:ext cx="6007261" cy="8229600"/>
          </a:xfrm>
          <a:prstGeom prst="rect">
            <a:avLst/>
          </a:prstGeom>
        </p:spPr>
      </p:pic>
      <p:sp>
        <p:nvSpPr>
          <p:cNvPr id="5" name="Text 1"/>
          <p:cNvSpPr/>
          <p:nvPr/>
        </p:nvSpPr>
        <p:spPr>
          <a:xfrm>
            <a:off x="277792" y="1238491"/>
            <a:ext cx="7766613" cy="1814513"/>
          </a:xfrm>
          <a:prstGeom prst="rect">
            <a:avLst/>
          </a:prstGeom>
          <a:noFill/>
          <a:ln/>
        </p:spPr>
        <p:txBody>
          <a:bodyPr wrap="square" lIns="0" tIns="0" rIns="0" bIns="0" rtlCol="0" anchor="t"/>
          <a:lstStyle/>
          <a:p>
            <a:pPr marL="0" indent="0" algn="l">
              <a:lnSpc>
                <a:spcPts val="4450"/>
              </a:lnSpc>
              <a:buNone/>
            </a:pPr>
            <a:r>
              <a:rPr lang="en-US" sz="4000" b="1" dirty="0">
                <a:solidFill>
                  <a:srgbClr val="FF0000"/>
                </a:solidFill>
                <a:latin typeface="Inter" pitchFamily="34" charset="0"/>
                <a:ea typeface="Inter" pitchFamily="34" charset="-122"/>
                <a:cs typeface="Inter" pitchFamily="34" charset="-120"/>
              </a:rPr>
              <a:t>Our Vision: Empowering Authorities with AI</a:t>
            </a:r>
            <a:endParaRPr lang="en-US" sz="4000" b="1" dirty="0">
              <a:solidFill>
                <a:srgbClr val="FF0000"/>
              </a:solidFill>
            </a:endParaRPr>
          </a:p>
        </p:txBody>
      </p:sp>
      <p:sp>
        <p:nvSpPr>
          <p:cNvPr id="6" name="Text 2"/>
          <p:cNvSpPr/>
          <p:nvPr/>
        </p:nvSpPr>
        <p:spPr>
          <a:xfrm>
            <a:off x="277793" y="2951545"/>
            <a:ext cx="7951808" cy="2765004"/>
          </a:xfrm>
          <a:prstGeom prst="rect">
            <a:avLst/>
          </a:prstGeom>
          <a:noFill/>
          <a:ln/>
        </p:spPr>
        <p:txBody>
          <a:bodyPr wrap="square" lIns="0" tIns="0" rIns="0" bIns="0" rtlCol="0" anchor="t"/>
          <a:lstStyle/>
          <a:p>
            <a:pPr marL="0" indent="0" algn="l">
              <a:lnSpc>
                <a:spcPts val="2850"/>
              </a:lnSpc>
              <a:buNone/>
            </a:pPr>
            <a:r>
              <a:rPr lang="en-US" sz="2800" dirty="0">
                <a:solidFill>
                  <a:srgbClr val="55575A"/>
                </a:solidFill>
                <a:latin typeface="Manrope" pitchFamily="34" charset="0"/>
                <a:ea typeface="Manrope" pitchFamily="34" charset="-122"/>
                <a:cs typeface="Manrope" pitchFamily="34" charset="-120"/>
              </a:rPr>
              <a:t>Our objective is to furnish higher authorities with an AI-driven, backend-only system for real-time monitoring, automated complaint handling, and data-informed waste minimisation strategies. This eliminates reliance on manual checks or collector-side applications, offering unparalleled control and oversight</a:t>
            </a:r>
            <a:r>
              <a:rPr lang="en-US" sz="1750" dirty="0">
                <a:solidFill>
                  <a:srgbClr val="55575A"/>
                </a:solidFill>
                <a:latin typeface="Manrope" pitchFamily="34" charset="0"/>
                <a:ea typeface="Manrope" pitchFamily="34" charset="-122"/>
                <a:cs typeface="Manrope" pitchFamily="34" charset="-120"/>
              </a:rPr>
              <a:t>.</a:t>
            </a:r>
            <a:endParaRPr lang="en-US" sz="1750" dirty="0"/>
          </a:p>
        </p:txBody>
      </p:sp>
      <p:pic>
        <p:nvPicPr>
          <p:cNvPr id="8" name="Picture 7">
            <a:extLst>
              <a:ext uri="{FF2B5EF4-FFF2-40B4-BE49-F238E27FC236}">
                <a16:creationId xmlns:a16="http://schemas.microsoft.com/office/drawing/2014/main" id="{708E2FEB-3A1A-D052-E700-9131E0F7794C}"/>
              </a:ext>
            </a:extLst>
          </p:cNvPr>
          <p:cNvPicPr>
            <a:picLocks noChangeAspect="1"/>
          </p:cNvPicPr>
          <p:nvPr/>
        </p:nvPicPr>
        <p:blipFill>
          <a:blip r:embed="rId4"/>
          <a:stretch>
            <a:fillRect/>
          </a:stretch>
        </p:blipFill>
        <p:spPr>
          <a:xfrm>
            <a:off x="8229600" y="497711"/>
            <a:ext cx="6123008" cy="758141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2203489" y="855472"/>
            <a:ext cx="7436644" cy="566976"/>
          </a:xfrm>
          <a:prstGeom prst="rect">
            <a:avLst/>
          </a:prstGeom>
          <a:noFill/>
          <a:ln/>
        </p:spPr>
        <p:txBody>
          <a:bodyPr wrap="none" lIns="0" tIns="0" rIns="0" bIns="0" rtlCol="0" anchor="t"/>
          <a:lstStyle/>
          <a:p>
            <a:pPr>
              <a:lnSpc>
                <a:spcPts val="4450"/>
              </a:lnSpc>
            </a:pPr>
            <a:r>
              <a:rPr lang="en-US" sz="4800" b="1" dirty="0">
                <a:solidFill>
                  <a:srgbClr val="C00000"/>
                </a:solidFill>
              </a:rPr>
              <a:t>Novelty of the Project (Core Innovations).</a:t>
            </a:r>
          </a:p>
        </p:txBody>
      </p:sp>
      <p:sp>
        <p:nvSpPr>
          <p:cNvPr id="3" name="Shape 1"/>
          <p:cNvSpPr/>
          <p:nvPr/>
        </p:nvSpPr>
        <p:spPr>
          <a:xfrm>
            <a:off x="793790" y="3234809"/>
            <a:ext cx="4196358" cy="3120628"/>
          </a:xfrm>
          <a:prstGeom prst="roundRect">
            <a:avLst>
              <a:gd name="adj" fmla="val 4688"/>
            </a:avLst>
          </a:prstGeom>
          <a:solidFill>
            <a:srgbClr val="FFFFFF"/>
          </a:solidFill>
          <a:ln/>
        </p:spPr>
      </p:sp>
      <p:sp>
        <p:nvSpPr>
          <p:cNvPr id="4" name="Shape 2"/>
          <p:cNvSpPr/>
          <p:nvPr/>
        </p:nvSpPr>
        <p:spPr>
          <a:xfrm>
            <a:off x="793790" y="3204329"/>
            <a:ext cx="4196358" cy="121920"/>
          </a:xfrm>
          <a:prstGeom prst="roundRect">
            <a:avLst>
              <a:gd name="adj" fmla="val 167442"/>
            </a:avLst>
          </a:prstGeom>
          <a:solidFill>
            <a:srgbClr val="FF7047"/>
          </a:solidFill>
          <a:ln/>
        </p:spPr>
      </p:sp>
      <p:sp>
        <p:nvSpPr>
          <p:cNvPr id="5" name="Shape 3"/>
          <p:cNvSpPr/>
          <p:nvPr/>
        </p:nvSpPr>
        <p:spPr>
          <a:xfrm>
            <a:off x="2551688" y="2894648"/>
            <a:ext cx="680442" cy="680442"/>
          </a:xfrm>
          <a:prstGeom prst="roundRect">
            <a:avLst>
              <a:gd name="adj" fmla="val 134383"/>
            </a:avLst>
          </a:prstGeom>
          <a:solidFill>
            <a:srgbClr val="FF7047"/>
          </a:solidFill>
          <a:ln/>
        </p:spPr>
      </p:sp>
      <p:sp>
        <p:nvSpPr>
          <p:cNvPr id="6" name="Text 4"/>
          <p:cNvSpPr/>
          <p:nvPr/>
        </p:nvSpPr>
        <p:spPr>
          <a:xfrm>
            <a:off x="2755761" y="3064788"/>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000000"/>
                </a:solidFill>
                <a:latin typeface="Inter" pitchFamily="34" charset="0"/>
                <a:ea typeface="Inter" pitchFamily="34" charset="-122"/>
                <a:cs typeface="Inter" pitchFamily="34" charset="-120"/>
              </a:rPr>
              <a:t>1</a:t>
            </a:r>
            <a:endParaRPr lang="en-US" sz="2100" dirty="0"/>
          </a:p>
        </p:txBody>
      </p:sp>
      <p:sp>
        <p:nvSpPr>
          <p:cNvPr id="7" name="Text 5"/>
          <p:cNvSpPr/>
          <p:nvPr/>
        </p:nvSpPr>
        <p:spPr>
          <a:xfrm>
            <a:off x="1051084" y="3801785"/>
            <a:ext cx="3681770" cy="708660"/>
          </a:xfrm>
          <a:prstGeom prst="rect">
            <a:avLst/>
          </a:prstGeom>
          <a:noFill/>
          <a:ln/>
        </p:spPr>
        <p:txBody>
          <a:bodyPr wrap="square" lIns="0" tIns="0" rIns="0" bIns="0" rtlCol="0" anchor="t"/>
          <a:lstStyle/>
          <a:p>
            <a:pPr marL="0" indent="0" algn="l">
              <a:lnSpc>
                <a:spcPts val="2750"/>
              </a:lnSpc>
              <a:buNone/>
            </a:pPr>
            <a:r>
              <a:rPr lang="en-US" sz="2200" dirty="0">
                <a:solidFill>
                  <a:srgbClr val="55575A"/>
                </a:solidFill>
                <a:latin typeface="Inter" pitchFamily="34" charset="0"/>
                <a:ea typeface="Inter" pitchFamily="34" charset="-122"/>
                <a:cs typeface="Inter" pitchFamily="34" charset="-120"/>
              </a:rPr>
              <a:t>GPS-Enabled Smart ID Cards</a:t>
            </a:r>
            <a:endParaRPr lang="en-US" sz="2200" dirty="0"/>
          </a:p>
        </p:txBody>
      </p:sp>
      <p:sp>
        <p:nvSpPr>
          <p:cNvPr id="8" name="Text 6"/>
          <p:cNvSpPr/>
          <p:nvPr/>
        </p:nvSpPr>
        <p:spPr>
          <a:xfrm>
            <a:off x="1051084" y="4646533"/>
            <a:ext cx="3681770" cy="1451610"/>
          </a:xfrm>
          <a:prstGeom prst="rect">
            <a:avLst/>
          </a:prstGeom>
          <a:noFill/>
          <a:ln/>
        </p:spPr>
        <p:txBody>
          <a:bodyPr wrap="square" lIns="0" tIns="0" rIns="0" bIns="0" rtlCol="0" anchor="t"/>
          <a:lstStyle/>
          <a:p>
            <a:pPr marL="0" indent="0" algn="l">
              <a:lnSpc>
                <a:spcPts val="2850"/>
              </a:lnSpc>
              <a:buNone/>
            </a:pPr>
            <a:r>
              <a:rPr lang="en-US" sz="1750" dirty="0">
                <a:solidFill>
                  <a:srgbClr val="55575A"/>
                </a:solidFill>
                <a:latin typeface="Manrope" pitchFamily="34" charset="0"/>
                <a:ea typeface="Manrope" pitchFamily="34" charset="-122"/>
                <a:cs typeface="Manrope" pitchFamily="34" charset="-120"/>
              </a:rPr>
              <a:t>Track collectors in real-time, eliminating the need for separate mobile applications and ensuring accountability.</a:t>
            </a:r>
            <a:endParaRPr lang="en-US" sz="1750" dirty="0"/>
          </a:p>
        </p:txBody>
      </p:sp>
      <p:sp>
        <p:nvSpPr>
          <p:cNvPr id="9" name="Shape 7"/>
          <p:cNvSpPr/>
          <p:nvPr/>
        </p:nvSpPr>
        <p:spPr>
          <a:xfrm>
            <a:off x="5216962" y="3234809"/>
            <a:ext cx="4196358" cy="3120628"/>
          </a:xfrm>
          <a:prstGeom prst="roundRect">
            <a:avLst>
              <a:gd name="adj" fmla="val 4688"/>
            </a:avLst>
          </a:prstGeom>
          <a:solidFill>
            <a:srgbClr val="FFFFFF"/>
          </a:solidFill>
          <a:ln/>
        </p:spPr>
      </p:sp>
      <p:sp>
        <p:nvSpPr>
          <p:cNvPr id="10" name="Shape 8"/>
          <p:cNvSpPr/>
          <p:nvPr/>
        </p:nvSpPr>
        <p:spPr>
          <a:xfrm>
            <a:off x="5216962" y="3204329"/>
            <a:ext cx="4196358" cy="121920"/>
          </a:xfrm>
          <a:prstGeom prst="roundRect">
            <a:avLst>
              <a:gd name="adj" fmla="val 167442"/>
            </a:avLst>
          </a:prstGeom>
          <a:solidFill>
            <a:srgbClr val="FF7047"/>
          </a:solidFill>
          <a:ln/>
        </p:spPr>
      </p:sp>
      <p:sp>
        <p:nvSpPr>
          <p:cNvPr id="11" name="Shape 9"/>
          <p:cNvSpPr/>
          <p:nvPr/>
        </p:nvSpPr>
        <p:spPr>
          <a:xfrm>
            <a:off x="6974860" y="2894648"/>
            <a:ext cx="680442" cy="680442"/>
          </a:xfrm>
          <a:prstGeom prst="roundRect">
            <a:avLst>
              <a:gd name="adj" fmla="val 134383"/>
            </a:avLst>
          </a:prstGeom>
          <a:solidFill>
            <a:srgbClr val="FF7047"/>
          </a:solidFill>
          <a:ln/>
        </p:spPr>
      </p:sp>
      <p:sp>
        <p:nvSpPr>
          <p:cNvPr id="12" name="Text 10"/>
          <p:cNvSpPr/>
          <p:nvPr/>
        </p:nvSpPr>
        <p:spPr>
          <a:xfrm>
            <a:off x="7178933" y="3064788"/>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000000"/>
                </a:solidFill>
                <a:latin typeface="Inter" pitchFamily="34" charset="0"/>
                <a:ea typeface="Inter" pitchFamily="34" charset="-122"/>
                <a:cs typeface="Inter" pitchFamily="34" charset="-120"/>
              </a:rPr>
              <a:t>2</a:t>
            </a:r>
            <a:endParaRPr lang="en-US" sz="2100" dirty="0"/>
          </a:p>
        </p:txBody>
      </p:sp>
      <p:sp>
        <p:nvSpPr>
          <p:cNvPr id="13" name="Text 11"/>
          <p:cNvSpPr/>
          <p:nvPr/>
        </p:nvSpPr>
        <p:spPr>
          <a:xfrm>
            <a:off x="5474256" y="380178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5575A"/>
                </a:solidFill>
                <a:latin typeface="Inter" pitchFamily="34" charset="0"/>
                <a:ea typeface="Inter" pitchFamily="34" charset="-122"/>
                <a:cs typeface="Inter" pitchFamily="34" charset="-120"/>
              </a:rPr>
              <a:t>AI Bin Monitoring</a:t>
            </a:r>
            <a:endParaRPr lang="en-US" sz="2200" dirty="0"/>
          </a:p>
        </p:txBody>
      </p:sp>
      <p:sp>
        <p:nvSpPr>
          <p:cNvPr id="14" name="Text 12"/>
          <p:cNvSpPr/>
          <p:nvPr/>
        </p:nvSpPr>
        <p:spPr>
          <a:xfrm>
            <a:off x="5474256" y="4292203"/>
            <a:ext cx="3681770" cy="1451610"/>
          </a:xfrm>
          <a:prstGeom prst="rect">
            <a:avLst/>
          </a:prstGeom>
          <a:noFill/>
          <a:ln/>
        </p:spPr>
        <p:txBody>
          <a:bodyPr wrap="square" lIns="0" tIns="0" rIns="0" bIns="0" rtlCol="0" anchor="t"/>
          <a:lstStyle/>
          <a:p>
            <a:pPr marL="0" indent="0" algn="l">
              <a:lnSpc>
                <a:spcPts val="2850"/>
              </a:lnSpc>
              <a:buNone/>
            </a:pPr>
            <a:r>
              <a:rPr lang="en-US" sz="1750" dirty="0">
                <a:solidFill>
                  <a:srgbClr val="55575A"/>
                </a:solidFill>
                <a:latin typeface="Manrope" pitchFamily="34" charset="0"/>
                <a:ea typeface="Manrope" pitchFamily="34" charset="-122"/>
                <a:cs typeface="Manrope" pitchFamily="34" charset="-120"/>
              </a:rPr>
              <a:t>QR codes combined with optional AI cameras instantly detect uncleaned bins, providing immediate alerts.</a:t>
            </a:r>
            <a:endParaRPr lang="en-US" sz="1750" dirty="0"/>
          </a:p>
        </p:txBody>
      </p:sp>
      <p:sp>
        <p:nvSpPr>
          <p:cNvPr id="15" name="Shape 13"/>
          <p:cNvSpPr/>
          <p:nvPr/>
        </p:nvSpPr>
        <p:spPr>
          <a:xfrm>
            <a:off x="9640133" y="3234809"/>
            <a:ext cx="4196358" cy="3120628"/>
          </a:xfrm>
          <a:prstGeom prst="roundRect">
            <a:avLst>
              <a:gd name="adj" fmla="val 4688"/>
            </a:avLst>
          </a:prstGeom>
          <a:solidFill>
            <a:srgbClr val="FFFFFF"/>
          </a:solidFill>
          <a:ln/>
        </p:spPr>
      </p:sp>
      <p:sp>
        <p:nvSpPr>
          <p:cNvPr id="16" name="Shape 14"/>
          <p:cNvSpPr/>
          <p:nvPr/>
        </p:nvSpPr>
        <p:spPr>
          <a:xfrm>
            <a:off x="9640133" y="3204329"/>
            <a:ext cx="4196358" cy="121920"/>
          </a:xfrm>
          <a:prstGeom prst="roundRect">
            <a:avLst>
              <a:gd name="adj" fmla="val 167442"/>
            </a:avLst>
          </a:prstGeom>
          <a:solidFill>
            <a:srgbClr val="FF7047"/>
          </a:solidFill>
          <a:ln/>
        </p:spPr>
      </p:sp>
      <p:sp>
        <p:nvSpPr>
          <p:cNvPr id="17" name="Shape 15"/>
          <p:cNvSpPr/>
          <p:nvPr/>
        </p:nvSpPr>
        <p:spPr>
          <a:xfrm>
            <a:off x="11398032" y="2894648"/>
            <a:ext cx="680442" cy="680442"/>
          </a:xfrm>
          <a:prstGeom prst="roundRect">
            <a:avLst>
              <a:gd name="adj" fmla="val 134383"/>
            </a:avLst>
          </a:prstGeom>
          <a:solidFill>
            <a:srgbClr val="FF7047"/>
          </a:solidFill>
          <a:ln/>
        </p:spPr>
      </p:sp>
      <p:sp>
        <p:nvSpPr>
          <p:cNvPr id="18" name="Text 16"/>
          <p:cNvSpPr/>
          <p:nvPr/>
        </p:nvSpPr>
        <p:spPr>
          <a:xfrm>
            <a:off x="11602105" y="3064788"/>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000000"/>
                </a:solidFill>
                <a:latin typeface="Inter" pitchFamily="34" charset="0"/>
                <a:ea typeface="Inter" pitchFamily="34" charset="-122"/>
                <a:cs typeface="Inter" pitchFamily="34" charset="-120"/>
              </a:rPr>
              <a:t>3</a:t>
            </a:r>
            <a:endParaRPr lang="en-US" sz="2100" dirty="0"/>
          </a:p>
        </p:txBody>
      </p:sp>
      <p:sp>
        <p:nvSpPr>
          <p:cNvPr id="19" name="Text 17"/>
          <p:cNvSpPr/>
          <p:nvPr/>
        </p:nvSpPr>
        <p:spPr>
          <a:xfrm>
            <a:off x="9897427" y="3801785"/>
            <a:ext cx="3681770" cy="708660"/>
          </a:xfrm>
          <a:prstGeom prst="rect">
            <a:avLst/>
          </a:prstGeom>
          <a:noFill/>
          <a:ln/>
        </p:spPr>
        <p:txBody>
          <a:bodyPr wrap="square" lIns="0" tIns="0" rIns="0" bIns="0" rtlCol="0" anchor="t"/>
          <a:lstStyle/>
          <a:p>
            <a:pPr marL="0" indent="0" algn="l">
              <a:lnSpc>
                <a:spcPts val="2750"/>
              </a:lnSpc>
              <a:buNone/>
            </a:pPr>
            <a:r>
              <a:rPr lang="en-US" sz="2200" dirty="0">
                <a:solidFill>
                  <a:srgbClr val="55575A"/>
                </a:solidFill>
                <a:latin typeface="Inter" pitchFamily="34" charset="0"/>
                <a:ea typeface="Inter" pitchFamily="34" charset="-122"/>
                <a:cs typeface="Inter" pitchFamily="34" charset="-120"/>
              </a:rPr>
              <a:t>Centralised Authority Dashboard</a:t>
            </a:r>
            <a:endParaRPr lang="en-US" sz="2200" dirty="0"/>
          </a:p>
        </p:txBody>
      </p:sp>
      <p:sp>
        <p:nvSpPr>
          <p:cNvPr id="20" name="Text 18"/>
          <p:cNvSpPr/>
          <p:nvPr/>
        </p:nvSpPr>
        <p:spPr>
          <a:xfrm>
            <a:off x="9897427" y="4646533"/>
            <a:ext cx="3681770" cy="1451610"/>
          </a:xfrm>
          <a:prstGeom prst="rect">
            <a:avLst/>
          </a:prstGeom>
          <a:noFill/>
          <a:ln/>
        </p:spPr>
        <p:txBody>
          <a:bodyPr wrap="square" lIns="0" tIns="0" rIns="0" bIns="0" rtlCol="0" anchor="t"/>
          <a:lstStyle/>
          <a:p>
            <a:pPr marL="0" indent="0" algn="l">
              <a:lnSpc>
                <a:spcPts val="2850"/>
              </a:lnSpc>
              <a:buNone/>
            </a:pPr>
            <a:r>
              <a:rPr lang="en-US" sz="1750" dirty="0">
                <a:solidFill>
                  <a:srgbClr val="55575A"/>
                </a:solidFill>
                <a:latin typeface="Manrope" pitchFamily="34" charset="0"/>
                <a:ea typeface="Manrope" pitchFamily="34" charset="-122"/>
                <a:cs typeface="Manrope" pitchFamily="34" charset="-120"/>
              </a:rPr>
              <a:t>A comprehensive view of ward status, skipped bins, and granular collector performance data at a glance.</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957858"/>
            <a:ext cx="7074813" cy="566976"/>
          </a:xfrm>
          <a:prstGeom prst="rect">
            <a:avLst/>
          </a:prstGeom>
          <a:noFill/>
          <a:ln/>
        </p:spPr>
        <p:txBody>
          <a:bodyPr wrap="none" lIns="0" tIns="0" rIns="0" bIns="0" rtlCol="0" anchor="t"/>
          <a:lstStyle/>
          <a:p>
            <a:pPr>
              <a:lnSpc>
                <a:spcPts val="4450"/>
              </a:lnSpc>
            </a:pPr>
            <a:r>
              <a:rPr lang="en-IN" sz="4800" b="1" dirty="0">
                <a:solidFill>
                  <a:srgbClr val="FF0000"/>
                </a:solidFill>
              </a:rPr>
              <a:t>Authority-Driven Citizen Response</a:t>
            </a:r>
            <a:endParaRPr lang="en-US" sz="4800" b="1" dirty="0">
              <a:solidFill>
                <a:srgbClr val="FF0000"/>
              </a:solidFill>
            </a:endParaRPr>
          </a:p>
        </p:txBody>
      </p:sp>
      <p:sp>
        <p:nvSpPr>
          <p:cNvPr id="3" name="Text 1"/>
          <p:cNvSpPr/>
          <p:nvPr/>
        </p:nvSpPr>
        <p:spPr>
          <a:xfrm>
            <a:off x="793790" y="1978462"/>
            <a:ext cx="13042821" cy="362903"/>
          </a:xfrm>
          <a:prstGeom prst="rect">
            <a:avLst/>
          </a:prstGeom>
          <a:noFill/>
          <a:ln/>
        </p:spPr>
        <p:txBody>
          <a:bodyPr wrap="none" lIns="0" tIns="0" rIns="0" bIns="0" rtlCol="0" anchor="t"/>
          <a:lstStyle/>
          <a:p>
            <a:pPr marL="0" indent="0" algn="l">
              <a:lnSpc>
                <a:spcPts val="2850"/>
              </a:lnSpc>
              <a:buNone/>
            </a:pPr>
            <a:r>
              <a:rPr lang="en-US" dirty="0">
                <a:solidFill>
                  <a:schemeClr val="accent2"/>
                </a:solidFill>
                <a:latin typeface="Manrope" pitchFamily="34" charset="0"/>
                <a:ea typeface="Manrope" pitchFamily="34" charset="-122"/>
                <a:cs typeface="Manrope" pitchFamily="34" charset="-120"/>
              </a:rPr>
              <a:t>TrashTracer AI bridges the gap between citizens and authorities, fostering a proactive approach to waste management</a:t>
            </a:r>
            <a:r>
              <a:rPr lang="en-US" dirty="0">
                <a:solidFill>
                  <a:srgbClr val="FFFFFF"/>
                </a:solidFill>
                <a:latin typeface="Manrope" pitchFamily="34" charset="0"/>
                <a:ea typeface="Manrope" pitchFamily="34" charset="-122"/>
                <a:cs typeface="Manrope" pitchFamily="34" charset="-120"/>
              </a:rPr>
              <a:t>.</a:t>
            </a:r>
            <a:endParaRPr lang="en-US" dirty="0"/>
          </a:p>
        </p:txBody>
      </p:sp>
      <p:sp>
        <p:nvSpPr>
          <p:cNvPr id="4" name="Text 2"/>
          <p:cNvSpPr/>
          <p:nvPr/>
        </p:nvSpPr>
        <p:spPr>
          <a:xfrm>
            <a:off x="1979414" y="2823329"/>
            <a:ext cx="3873460" cy="354330"/>
          </a:xfrm>
          <a:prstGeom prst="rect">
            <a:avLst/>
          </a:prstGeom>
          <a:noFill/>
          <a:ln/>
        </p:spPr>
        <p:txBody>
          <a:bodyPr wrap="none" lIns="0" tIns="0" rIns="0" bIns="0" rtlCol="0" anchor="t"/>
          <a:lstStyle/>
          <a:p>
            <a:pPr marL="0" indent="0" algn="ctr">
              <a:lnSpc>
                <a:spcPts val="2750"/>
              </a:lnSpc>
              <a:buNone/>
            </a:pPr>
            <a:r>
              <a:rPr lang="en-US" sz="2200" dirty="0">
                <a:solidFill>
                  <a:schemeClr val="accent1"/>
                </a:solidFill>
                <a:latin typeface="Inter" pitchFamily="34" charset="0"/>
                <a:ea typeface="Inter" pitchFamily="34" charset="-122"/>
                <a:cs typeface="Inter" pitchFamily="34" charset="-120"/>
              </a:rPr>
              <a:t>Seamless Citizen Complaints</a:t>
            </a:r>
            <a:endParaRPr lang="en-US" sz="2200" dirty="0">
              <a:solidFill>
                <a:schemeClr val="accent1"/>
              </a:solidFill>
            </a:endParaRPr>
          </a:p>
        </p:txBody>
      </p:sp>
      <p:sp>
        <p:nvSpPr>
          <p:cNvPr id="5" name="Text 3"/>
          <p:cNvSpPr/>
          <p:nvPr/>
        </p:nvSpPr>
        <p:spPr>
          <a:xfrm>
            <a:off x="793790" y="3404473"/>
            <a:ext cx="6244709" cy="1088708"/>
          </a:xfrm>
          <a:prstGeom prst="rect">
            <a:avLst/>
          </a:prstGeom>
          <a:noFill/>
          <a:ln/>
        </p:spPr>
        <p:txBody>
          <a:bodyPr wrap="square" lIns="0" tIns="0" rIns="0" bIns="0" rtlCol="0" anchor="t"/>
          <a:lstStyle/>
          <a:p>
            <a:pPr marL="0" indent="0" algn="ctr">
              <a:lnSpc>
                <a:spcPts val="2850"/>
              </a:lnSpc>
              <a:buNone/>
            </a:pPr>
            <a:r>
              <a:rPr lang="en-US" sz="1750" dirty="0">
                <a:latin typeface="Manrope" pitchFamily="34" charset="0"/>
                <a:ea typeface="Manrope" pitchFamily="34" charset="-122"/>
                <a:cs typeface="Manrope" pitchFamily="34" charset="-120"/>
              </a:rPr>
              <a:t>WhatsApp integration allows citizens to report issues effortlessly, instantly flagging them on the dashboard for rapid response.</a:t>
            </a:r>
            <a:endParaRPr lang="en-US" sz="1750" dirty="0"/>
          </a:p>
        </p:txBody>
      </p:sp>
      <p:sp>
        <p:nvSpPr>
          <p:cNvPr id="7" name="Text 4"/>
          <p:cNvSpPr/>
          <p:nvPr/>
        </p:nvSpPr>
        <p:spPr>
          <a:xfrm>
            <a:off x="9304258" y="2823329"/>
            <a:ext cx="2835235" cy="354330"/>
          </a:xfrm>
          <a:prstGeom prst="rect">
            <a:avLst/>
          </a:prstGeom>
          <a:noFill/>
          <a:ln/>
        </p:spPr>
        <p:txBody>
          <a:bodyPr wrap="none" lIns="0" tIns="0" rIns="0" bIns="0" rtlCol="0" anchor="t"/>
          <a:lstStyle/>
          <a:p>
            <a:pPr marL="0" indent="0" algn="ctr">
              <a:lnSpc>
                <a:spcPts val="2750"/>
              </a:lnSpc>
              <a:buNone/>
            </a:pPr>
            <a:r>
              <a:rPr lang="en-US" sz="2200" dirty="0">
                <a:solidFill>
                  <a:schemeClr val="accent1"/>
                </a:solidFill>
                <a:latin typeface="Inter" pitchFamily="34" charset="0"/>
                <a:ea typeface="Inter" pitchFamily="34" charset="-122"/>
                <a:cs typeface="Inter" pitchFamily="34" charset="-120"/>
              </a:rPr>
              <a:t>Predictive AI Insights</a:t>
            </a:r>
            <a:endParaRPr lang="en-US" sz="2200" dirty="0">
              <a:solidFill>
                <a:schemeClr val="accent1"/>
              </a:solidFill>
            </a:endParaRPr>
          </a:p>
        </p:txBody>
      </p:sp>
      <p:sp>
        <p:nvSpPr>
          <p:cNvPr id="8" name="Text 5"/>
          <p:cNvSpPr/>
          <p:nvPr/>
        </p:nvSpPr>
        <p:spPr>
          <a:xfrm>
            <a:off x="7599521" y="3404473"/>
            <a:ext cx="6244709" cy="1088708"/>
          </a:xfrm>
          <a:prstGeom prst="rect">
            <a:avLst/>
          </a:prstGeom>
          <a:noFill/>
          <a:ln/>
        </p:spPr>
        <p:txBody>
          <a:bodyPr wrap="square" lIns="0" tIns="0" rIns="0" bIns="0" rtlCol="0" anchor="t"/>
          <a:lstStyle/>
          <a:p>
            <a:pPr marL="0" indent="0" algn="ctr">
              <a:lnSpc>
                <a:spcPts val="2850"/>
              </a:lnSpc>
              <a:buNone/>
            </a:pPr>
            <a:r>
              <a:rPr lang="en-US" sz="1750" dirty="0">
                <a:latin typeface="Manrope" pitchFamily="34" charset="0"/>
                <a:ea typeface="Manrope" pitchFamily="34" charset="-122"/>
                <a:cs typeface="Manrope" pitchFamily="34" charset="-120"/>
              </a:rPr>
              <a:t>Our AI analyses waste trends (e.g., high food waste in specific areas) and suggests tailored solutions like compost bin deployment.</a:t>
            </a:r>
            <a:endParaRPr lang="en-US" sz="1750" dirty="0"/>
          </a:p>
        </p:txBody>
      </p:sp>
      <p:pic>
        <p:nvPicPr>
          <p:cNvPr id="11" name="Picture 10">
            <a:extLst>
              <a:ext uri="{FF2B5EF4-FFF2-40B4-BE49-F238E27FC236}">
                <a16:creationId xmlns:a16="http://schemas.microsoft.com/office/drawing/2014/main" id="{460A4D9E-969E-A68D-9DBA-C6D8CB8F5B40}"/>
              </a:ext>
            </a:extLst>
          </p:cNvPr>
          <p:cNvPicPr>
            <a:picLocks noChangeAspect="1"/>
          </p:cNvPicPr>
          <p:nvPr/>
        </p:nvPicPr>
        <p:blipFill>
          <a:blip r:embed="rId3"/>
          <a:stretch>
            <a:fillRect/>
          </a:stretch>
        </p:blipFill>
        <p:spPr>
          <a:xfrm>
            <a:off x="891455" y="4493181"/>
            <a:ext cx="5972332" cy="3571898"/>
          </a:xfrm>
          <a:prstGeom prst="rect">
            <a:avLst/>
          </a:prstGeom>
        </p:spPr>
      </p:pic>
      <p:pic>
        <p:nvPicPr>
          <p:cNvPr id="13" name="Picture 12">
            <a:extLst>
              <a:ext uri="{FF2B5EF4-FFF2-40B4-BE49-F238E27FC236}">
                <a16:creationId xmlns:a16="http://schemas.microsoft.com/office/drawing/2014/main" id="{79A6A680-385E-540F-904D-2DA9AE498F30}"/>
              </a:ext>
            </a:extLst>
          </p:cNvPr>
          <p:cNvPicPr>
            <a:picLocks noChangeAspect="1"/>
          </p:cNvPicPr>
          <p:nvPr/>
        </p:nvPicPr>
        <p:blipFill>
          <a:blip r:embed="rId4"/>
          <a:stretch>
            <a:fillRect/>
          </a:stretch>
        </p:blipFill>
        <p:spPr>
          <a:xfrm>
            <a:off x="8198782" y="4719995"/>
            <a:ext cx="6244709" cy="334508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54023" y="593408"/>
            <a:ext cx="8705969" cy="538520"/>
          </a:xfrm>
          <a:prstGeom prst="rect">
            <a:avLst/>
          </a:prstGeom>
          <a:noFill/>
          <a:ln/>
        </p:spPr>
        <p:txBody>
          <a:bodyPr wrap="none" lIns="0" tIns="0" rIns="0" bIns="0" rtlCol="0" anchor="t"/>
          <a:lstStyle/>
          <a:p>
            <a:pPr marL="0" indent="0" algn="l">
              <a:lnSpc>
                <a:spcPts val="4200"/>
              </a:lnSpc>
              <a:buNone/>
            </a:pPr>
            <a:r>
              <a:rPr lang="en-US" sz="4800" dirty="0">
                <a:solidFill>
                  <a:srgbClr val="C00000"/>
                </a:solidFill>
                <a:latin typeface="Inter" pitchFamily="34" charset="0"/>
                <a:ea typeface="Inter" pitchFamily="34" charset="-122"/>
                <a:cs typeface="Inter" pitchFamily="34" charset="-120"/>
              </a:rPr>
              <a:t>Enhanced Capabilities: Advanced Add-ons</a:t>
            </a:r>
            <a:endParaRPr lang="en-US" sz="4800" dirty="0">
              <a:solidFill>
                <a:srgbClr val="C00000"/>
              </a:solidFill>
            </a:endParaRPr>
          </a:p>
        </p:txBody>
      </p:sp>
      <p:sp>
        <p:nvSpPr>
          <p:cNvPr id="3" name="Text 1"/>
          <p:cNvSpPr/>
          <p:nvPr/>
        </p:nvSpPr>
        <p:spPr>
          <a:xfrm>
            <a:off x="754023" y="1562814"/>
            <a:ext cx="13122354" cy="344805"/>
          </a:xfrm>
          <a:prstGeom prst="rect">
            <a:avLst/>
          </a:prstGeom>
          <a:noFill/>
          <a:ln/>
        </p:spPr>
        <p:txBody>
          <a:bodyPr wrap="none" lIns="0" tIns="0" rIns="0" bIns="0" rtlCol="0" anchor="t"/>
          <a:lstStyle/>
          <a:p>
            <a:pPr marL="0" indent="0" algn="l">
              <a:lnSpc>
                <a:spcPts val="2700"/>
              </a:lnSpc>
              <a:buNone/>
            </a:pPr>
            <a:r>
              <a:rPr lang="en-US" sz="1650" dirty="0">
                <a:solidFill>
                  <a:srgbClr val="55575A"/>
                </a:solidFill>
                <a:latin typeface="Manrope" pitchFamily="34" charset="0"/>
                <a:ea typeface="Manrope" pitchFamily="34" charset="-122"/>
                <a:cs typeface="Manrope" pitchFamily="34" charset="-120"/>
              </a:rPr>
              <a:t>Beyond its core features, TrashTracer AI offers advanced modules to further refine and optimise urban waste management.</a:t>
            </a:r>
            <a:endParaRPr lang="en-US" sz="1650" dirty="0"/>
          </a:p>
        </p:txBody>
      </p:sp>
      <p:sp>
        <p:nvSpPr>
          <p:cNvPr id="4" name="Shape 2"/>
          <p:cNvSpPr/>
          <p:nvPr/>
        </p:nvSpPr>
        <p:spPr>
          <a:xfrm>
            <a:off x="754023" y="2149912"/>
            <a:ext cx="6453426" cy="2807851"/>
          </a:xfrm>
          <a:prstGeom prst="roundRect">
            <a:avLst>
              <a:gd name="adj" fmla="val 6906"/>
            </a:avLst>
          </a:prstGeom>
          <a:solidFill>
            <a:srgbClr val="FFFFFF"/>
          </a:solidFill>
          <a:ln w="7620">
            <a:solidFill>
              <a:srgbClr val="FF7047"/>
            </a:solidFill>
            <a:prstDash val="solid"/>
          </a:ln>
        </p:spPr>
      </p:sp>
      <p:sp>
        <p:nvSpPr>
          <p:cNvPr id="5" name="Shape 3"/>
          <p:cNvSpPr/>
          <p:nvPr/>
        </p:nvSpPr>
        <p:spPr>
          <a:xfrm>
            <a:off x="977027" y="2372916"/>
            <a:ext cx="646271" cy="646271"/>
          </a:xfrm>
          <a:prstGeom prst="roundRect">
            <a:avLst>
              <a:gd name="adj" fmla="val 14147448"/>
            </a:avLst>
          </a:prstGeom>
          <a:solidFill>
            <a:srgbClr val="FF7047"/>
          </a:solidFill>
          <a:ln/>
        </p:spPr>
      </p:sp>
      <p:pic>
        <p:nvPicPr>
          <p:cNvPr id="6" name="Image 0" descr="preencoded.png"/>
          <p:cNvPicPr>
            <a:picLocks noChangeAspect="1"/>
          </p:cNvPicPr>
          <p:nvPr/>
        </p:nvPicPr>
        <p:blipFill>
          <a:blip r:embed="rId3"/>
          <a:stretch>
            <a:fillRect/>
          </a:stretch>
        </p:blipFill>
        <p:spPr>
          <a:xfrm>
            <a:off x="1154787" y="2514243"/>
            <a:ext cx="290751" cy="363498"/>
          </a:xfrm>
          <a:prstGeom prst="rect">
            <a:avLst/>
          </a:prstGeom>
        </p:spPr>
      </p:pic>
      <p:sp>
        <p:nvSpPr>
          <p:cNvPr id="7" name="Text 4"/>
          <p:cNvSpPr/>
          <p:nvPr/>
        </p:nvSpPr>
        <p:spPr>
          <a:xfrm>
            <a:off x="977027" y="3234571"/>
            <a:ext cx="3586282" cy="336590"/>
          </a:xfrm>
          <a:prstGeom prst="rect">
            <a:avLst/>
          </a:prstGeom>
          <a:noFill/>
          <a:ln/>
        </p:spPr>
        <p:txBody>
          <a:bodyPr wrap="none" lIns="0" tIns="0" rIns="0" bIns="0" rtlCol="0" anchor="t"/>
          <a:lstStyle/>
          <a:p>
            <a:pPr marL="0" indent="0" algn="l">
              <a:lnSpc>
                <a:spcPts val="2650"/>
              </a:lnSpc>
              <a:buNone/>
            </a:pPr>
            <a:r>
              <a:rPr lang="en-US" sz="2100" dirty="0">
                <a:solidFill>
                  <a:srgbClr val="55575A"/>
                </a:solidFill>
                <a:latin typeface="Inter" pitchFamily="34" charset="0"/>
                <a:ea typeface="Inter" pitchFamily="34" charset="-122"/>
                <a:cs typeface="Inter" pitchFamily="34" charset="-120"/>
              </a:rPr>
              <a:t>Dynamic Route Optimisation</a:t>
            </a:r>
            <a:endParaRPr lang="en-US" sz="2100" dirty="0"/>
          </a:p>
        </p:txBody>
      </p:sp>
      <p:sp>
        <p:nvSpPr>
          <p:cNvPr id="8" name="Text 5"/>
          <p:cNvSpPr/>
          <p:nvPr/>
        </p:nvSpPr>
        <p:spPr>
          <a:xfrm>
            <a:off x="977027" y="3700343"/>
            <a:ext cx="6007418" cy="689610"/>
          </a:xfrm>
          <a:prstGeom prst="rect">
            <a:avLst/>
          </a:prstGeom>
          <a:noFill/>
          <a:ln/>
        </p:spPr>
        <p:txBody>
          <a:bodyPr wrap="square" lIns="0" tIns="0" rIns="0" bIns="0" rtlCol="0" anchor="t"/>
          <a:lstStyle/>
          <a:p>
            <a:pPr marL="0" indent="0" algn="l">
              <a:lnSpc>
                <a:spcPts val="2700"/>
              </a:lnSpc>
              <a:buNone/>
            </a:pPr>
            <a:r>
              <a:rPr lang="en-US" sz="1650" dirty="0">
                <a:solidFill>
                  <a:srgbClr val="55575A"/>
                </a:solidFill>
                <a:latin typeface="Manrope" pitchFamily="34" charset="0"/>
                <a:ea typeface="Manrope" pitchFamily="34" charset="-122"/>
                <a:cs typeface="Manrope" pitchFamily="34" charset="-120"/>
              </a:rPr>
              <a:t>Real-time adjustment of collection routes for maximum efficiency and reduced fuel consumption.</a:t>
            </a:r>
            <a:endParaRPr lang="en-US" sz="1650" dirty="0"/>
          </a:p>
        </p:txBody>
      </p:sp>
      <p:sp>
        <p:nvSpPr>
          <p:cNvPr id="9" name="Shape 6"/>
          <p:cNvSpPr/>
          <p:nvPr/>
        </p:nvSpPr>
        <p:spPr>
          <a:xfrm>
            <a:off x="7422833" y="2149912"/>
            <a:ext cx="6453545" cy="2807851"/>
          </a:xfrm>
          <a:prstGeom prst="roundRect">
            <a:avLst>
              <a:gd name="adj" fmla="val 6906"/>
            </a:avLst>
          </a:prstGeom>
          <a:solidFill>
            <a:srgbClr val="FFFFFF"/>
          </a:solidFill>
          <a:ln w="7620">
            <a:solidFill>
              <a:srgbClr val="FF7047"/>
            </a:solidFill>
            <a:prstDash val="solid"/>
          </a:ln>
        </p:spPr>
      </p:sp>
      <p:sp>
        <p:nvSpPr>
          <p:cNvPr id="10" name="Shape 7"/>
          <p:cNvSpPr/>
          <p:nvPr/>
        </p:nvSpPr>
        <p:spPr>
          <a:xfrm>
            <a:off x="7645837" y="2372916"/>
            <a:ext cx="646271" cy="646271"/>
          </a:xfrm>
          <a:prstGeom prst="roundRect">
            <a:avLst>
              <a:gd name="adj" fmla="val 14147448"/>
            </a:avLst>
          </a:prstGeom>
          <a:solidFill>
            <a:srgbClr val="FF7047"/>
          </a:solidFill>
          <a:ln/>
        </p:spPr>
      </p:sp>
      <p:pic>
        <p:nvPicPr>
          <p:cNvPr id="11" name="Image 1" descr="preencoded.png"/>
          <p:cNvPicPr>
            <a:picLocks noChangeAspect="1"/>
          </p:cNvPicPr>
          <p:nvPr/>
        </p:nvPicPr>
        <p:blipFill>
          <a:blip r:embed="rId4"/>
          <a:stretch>
            <a:fillRect/>
          </a:stretch>
        </p:blipFill>
        <p:spPr>
          <a:xfrm>
            <a:off x="7823597" y="2550557"/>
            <a:ext cx="290751" cy="290751"/>
          </a:xfrm>
          <a:prstGeom prst="rect">
            <a:avLst/>
          </a:prstGeom>
        </p:spPr>
      </p:pic>
      <p:sp>
        <p:nvSpPr>
          <p:cNvPr id="12" name="Text 8"/>
          <p:cNvSpPr/>
          <p:nvPr/>
        </p:nvSpPr>
        <p:spPr>
          <a:xfrm>
            <a:off x="7645837" y="3234571"/>
            <a:ext cx="2797612" cy="336590"/>
          </a:xfrm>
          <a:prstGeom prst="rect">
            <a:avLst/>
          </a:prstGeom>
          <a:noFill/>
          <a:ln/>
        </p:spPr>
        <p:txBody>
          <a:bodyPr wrap="none" lIns="0" tIns="0" rIns="0" bIns="0" rtlCol="0" anchor="t"/>
          <a:lstStyle/>
          <a:p>
            <a:pPr marL="0" indent="0" algn="l">
              <a:lnSpc>
                <a:spcPts val="2650"/>
              </a:lnSpc>
              <a:buNone/>
            </a:pPr>
            <a:r>
              <a:rPr lang="en-US" sz="2100" dirty="0">
                <a:solidFill>
                  <a:srgbClr val="55575A"/>
                </a:solidFill>
                <a:latin typeface="Inter" pitchFamily="34" charset="0"/>
                <a:ea typeface="Inter" pitchFamily="34" charset="-122"/>
                <a:cs typeface="Inter" pitchFamily="34" charset="-120"/>
              </a:rPr>
              <a:t>Missed-Bin Prediction</a:t>
            </a:r>
            <a:endParaRPr lang="en-US" sz="2100" dirty="0"/>
          </a:p>
        </p:txBody>
      </p:sp>
      <p:sp>
        <p:nvSpPr>
          <p:cNvPr id="13" name="Text 9"/>
          <p:cNvSpPr/>
          <p:nvPr/>
        </p:nvSpPr>
        <p:spPr>
          <a:xfrm>
            <a:off x="7645837" y="3700343"/>
            <a:ext cx="6007537" cy="1034415"/>
          </a:xfrm>
          <a:prstGeom prst="rect">
            <a:avLst/>
          </a:prstGeom>
          <a:noFill/>
          <a:ln/>
        </p:spPr>
        <p:txBody>
          <a:bodyPr wrap="square" lIns="0" tIns="0" rIns="0" bIns="0" rtlCol="0" anchor="t"/>
          <a:lstStyle/>
          <a:p>
            <a:pPr marL="0" indent="0" algn="l">
              <a:lnSpc>
                <a:spcPts val="2700"/>
              </a:lnSpc>
              <a:buNone/>
            </a:pPr>
            <a:r>
              <a:rPr lang="en-US" sz="1650" dirty="0">
                <a:solidFill>
                  <a:srgbClr val="55575A"/>
                </a:solidFill>
                <a:latin typeface="Manrope" pitchFamily="34" charset="0"/>
                <a:ea typeface="Manrope" pitchFamily="34" charset="-122"/>
                <a:cs typeface="Manrope" pitchFamily="34" charset="-120"/>
              </a:rPr>
              <a:t>Algorithms predict potential missed collections based on historical data and current conditions, enabling pre-emptive action.</a:t>
            </a:r>
            <a:endParaRPr lang="en-US" sz="1650" dirty="0"/>
          </a:p>
        </p:txBody>
      </p:sp>
      <p:sp>
        <p:nvSpPr>
          <p:cNvPr id="14" name="Shape 10"/>
          <p:cNvSpPr/>
          <p:nvPr/>
        </p:nvSpPr>
        <p:spPr>
          <a:xfrm>
            <a:off x="754023" y="5173147"/>
            <a:ext cx="6453426" cy="2463046"/>
          </a:xfrm>
          <a:prstGeom prst="roundRect">
            <a:avLst>
              <a:gd name="adj" fmla="val 7873"/>
            </a:avLst>
          </a:prstGeom>
          <a:solidFill>
            <a:srgbClr val="FFFFFF"/>
          </a:solidFill>
          <a:ln w="7620">
            <a:solidFill>
              <a:srgbClr val="FF7047"/>
            </a:solidFill>
            <a:prstDash val="solid"/>
          </a:ln>
        </p:spPr>
      </p:sp>
      <p:sp>
        <p:nvSpPr>
          <p:cNvPr id="15" name="Shape 11"/>
          <p:cNvSpPr/>
          <p:nvPr/>
        </p:nvSpPr>
        <p:spPr>
          <a:xfrm>
            <a:off x="977027" y="5396151"/>
            <a:ext cx="646271" cy="646271"/>
          </a:xfrm>
          <a:prstGeom prst="roundRect">
            <a:avLst>
              <a:gd name="adj" fmla="val 14147448"/>
            </a:avLst>
          </a:prstGeom>
          <a:solidFill>
            <a:srgbClr val="FF7047"/>
          </a:solidFill>
          <a:ln/>
        </p:spPr>
      </p:sp>
      <p:pic>
        <p:nvPicPr>
          <p:cNvPr id="16" name="Image 2" descr="preencoded.png"/>
          <p:cNvPicPr>
            <a:picLocks noChangeAspect="1"/>
          </p:cNvPicPr>
          <p:nvPr/>
        </p:nvPicPr>
        <p:blipFill>
          <a:blip r:embed="rId5"/>
          <a:stretch>
            <a:fillRect/>
          </a:stretch>
        </p:blipFill>
        <p:spPr>
          <a:xfrm>
            <a:off x="1154787" y="5537478"/>
            <a:ext cx="290751" cy="363498"/>
          </a:xfrm>
          <a:prstGeom prst="rect">
            <a:avLst/>
          </a:prstGeom>
        </p:spPr>
      </p:pic>
      <p:sp>
        <p:nvSpPr>
          <p:cNvPr id="17" name="Text 12"/>
          <p:cNvSpPr/>
          <p:nvPr/>
        </p:nvSpPr>
        <p:spPr>
          <a:xfrm>
            <a:off x="977027" y="6257806"/>
            <a:ext cx="3049310" cy="336590"/>
          </a:xfrm>
          <a:prstGeom prst="rect">
            <a:avLst/>
          </a:prstGeom>
          <a:noFill/>
          <a:ln/>
        </p:spPr>
        <p:txBody>
          <a:bodyPr wrap="none" lIns="0" tIns="0" rIns="0" bIns="0" rtlCol="0" anchor="t"/>
          <a:lstStyle/>
          <a:p>
            <a:pPr marL="0" indent="0" algn="l">
              <a:lnSpc>
                <a:spcPts val="2650"/>
              </a:lnSpc>
              <a:buNone/>
            </a:pPr>
            <a:r>
              <a:rPr lang="en-US" sz="2100" dirty="0">
                <a:solidFill>
                  <a:srgbClr val="55575A"/>
                </a:solidFill>
                <a:latin typeface="Inter" pitchFamily="34" charset="0"/>
                <a:ea typeface="Inter" pitchFamily="34" charset="-122"/>
                <a:cs typeface="Inter" pitchFamily="34" charset="-120"/>
              </a:rPr>
              <a:t>Officer Chatbot Support</a:t>
            </a:r>
            <a:endParaRPr lang="en-US" sz="2100" dirty="0"/>
          </a:p>
        </p:txBody>
      </p:sp>
      <p:sp>
        <p:nvSpPr>
          <p:cNvPr id="18" name="Text 13"/>
          <p:cNvSpPr/>
          <p:nvPr/>
        </p:nvSpPr>
        <p:spPr>
          <a:xfrm>
            <a:off x="977027" y="6723578"/>
            <a:ext cx="6007418" cy="689610"/>
          </a:xfrm>
          <a:prstGeom prst="rect">
            <a:avLst/>
          </a:prstGeom>
          <a:noFill/>
          <a:ln/>
        </p:spPr>
        <p:txBody>
          <a:bodyPr wrap="square" lIns="0" tIns="0" rIns="0" bIns="0" rtlCol="0" anchor="t"/>
          <a:lstStyle/>
          <a:p>
            <a:pPr marL="0" indent="0" algn="l">
              <a:lnSpc>
                <a:spcPts val="2700"/>
              </a:lnSpc>
              <a:buNone/>
            </a:pPr>
            <a:r>
              <a:rPr lang="en-US" sz="1650" dirty="0">
                <a:solidFill>
                  <a:srgbClr val="55575A"/>
                </a:solidFill>
                <a:latin typeface="Manrope" pitchFamily="34" charset="0"/>
                <a:ea typeface="Manrope" pitchFamily="34" charset="-122"/>
                <a:cs typeface="Manrope" pitchFamily="34" charset="-120"/>
              </a:rPr>
              <a:t>AI-powered chatbot provides immediate assistance and information to on-duty sanitation officers.</a:t>
            </a:r>
            <a:endParaRPr lang="en-US" sz="1650" dirty="0"/>
          </a:p>
        </p:txBody>
      </p:sp>
      <p:sp>
        <p:nvSpPr>
          <p:cNvPr id="19" name="Shape 14"/>
          <p:cNvSpPr/>
          <p:nvPr/>
        </p:nvSpPr>
        <p:spPr>
          <a:xfrm>
            <a:off x="7422833" y="5173147"/>
            <a:ext cx="6453545" cy="2463046"/>
          </a:xfrm>
          <a:prstGeom prst="roundRect">
            <a:avLst>
              <a:gd name="adj" fmla="val 7873"/>
            </a:avLst>
          </a:prstGeom>
          <a:solidFill>
            <a:srgbClr val="FFFFFF"/>
          </a:solidFill>
          <a:ln w="7620">
            <a:solidFill>
              <a:srgbClr val="FF7047"/>
            </a:solidFill>
            <a:prstDash val="solid"/>
          </a:ln>
        </p:spPr>
      </p:sp>
      <p:sp>
        <p:nvSpPr>
          <p:cNvPr id="20" name="Shape 15"/>
          <p:cNvSpPr/>
          <p:nvPr/>
        </p:nvSpPr>
        <p:spPr>
          <a:xfrm>
            <a:off x="7645837" y="5396151"/>
            <a:ext cx="646271" cy="646271"/>
          </a:xfrm>
          <a:prstGeom prst="roundRect">
            <a:avLst>
              <a:gd name="adj" fmla="val 14147448"/>
            </a:avLst>
          </a:prstGeom>
          <a:solidFill>
            <a:srgbClr val="FF7047"/>
          </a:solidFill>
          <a:ln/>
        </p:spPr>
      </p:sp>
      <p:pic>
        <p:nvPicPr>
          <p:cNvPr id="21" name="Image 3" descr="preencoded.png"/>
          <p:cNvPicPr>
            <a:picLocks noChangeAspect="1"/>
          </p:cNvPicPr>
          <p:nvPr/>
        </p:nvPicPr>
        <p:blipFill>
          <a:blip r:embed="rId6"/>
          <a:stretch>
            <a:fillRect/>
          </a:stretch>
        </p:blipFill>
        <p:spPr>
          <a:xfrm>
            <a:off x="7823597" y="5537478"/>
            <a:ext cx="290751" cy="363498"/>
          </a:xfrm>
          <a:prstGeom prst="rect">
            <a:avLst/>
          </a:prstGeom>
        </p:spPr>
      </p:pic>
      <p:sp>
        <p:nvSpPr>
          <p:cNvPr id="22" name="Text 16"/>
          <p:cNvSpPr/>
          <p:nvPr/>
        </p:nvSpPr>
        <p:spPr>
          <a:xfrm>
            <a:off x="7645837" y="6257806"/>
            <a:ext cx="2697242" cy="336590"/>
          </a:xfrm>
          <a:prstGeom prst="rect">
            <a:avLst/>
          </a:prstGeom>
          <a:noFill/>
          <a:ln/>
        </p:spPr>
        <p:txBody>
          <a:bodyPr wrap="none" lIns="0" tIns="0" rIns="0" bIns="0" rtlCol="0" anchor="t"/>
          <a:lstStyle/>
          <a:p>
            <a:pPr marL="0" indent="0" algn="l">
              <a:lnSpc>
                <a:spcPts val="2650"/>
              </a:lnSpc>
              <a:buNone/>
            </a:pPr>
            <a:r>
              <a:rPr lang="en-US" sz="2100" dirty="0">
                <a:solidFill>
                  <a:srgbClr val="55575A"/>
                </a:solidFill>
                <a:latin typeface="Inter" pitchFamily="34" charset="0"/>
                <a:ea typeface="Inter" pitchFamily="34" charset="-122"/>
                <a:cs typeface="Inter" pitchFamily="34" charset="-120"/>
              </a:rPr>
              <a:t>Automated Reporting</a:t>
            </a:r>
            <a:endParaRPr lang="en-US" sz="2100" dirty="0"/>
          </a:p>
        </p:txBody>
      </p:sp>
      <p:sp>
        <p:nvSpPr>
          <p:cNvPr id="23" name="Text 17"/>
          <p:cNvSpPr/>
          <p:nvPr/>
        </p:nvSpPr>
        <p:spPr>
          <a:xfrm>
            <a:off x="7645837" y="6723578"/>
            <a:ext cx="6007537" cy="689610"/>
          </a:xfrm>
          <a:prstGeom prst="rect">
            <a:avLst/>
          </a:prstGeom>
          <a:noFill/>
          <a:ln/>
        </p:spPr>
        <p:txBody>
          <a:bodyPr wrap="square" lIns="0" tIns="0" rIns="0" bIns="0" rtlCol="0" anchor="t"/>
          <a:lstStyle/>
          <a:p>
            <a:pPr marL="0" indent="0" algn="l">
              <a:lnSpc>
                <a:spcPts val="2700"/>
              </a:lnSpc>
              <a:buNone/>
            </a:pPr>
            <a:r>
              <a:rPr lang="en-US" sz="1650" dirty="0">
                <a:solidFill>
                  <a:srgbClr val="55575A"/>
                </a:solidFill>
                <a:latin typeface="Manrope" pitchFamily="34" charset="0"/>
                <a:ea typeface="Manrope" pitchFamily="34" charset="-122"/>
                <a:cs typeface="Manrope" pitchFamily="34" charset="-120"/>
              </a:rPr>
              <a:t>Generate comprehensive, customisable reports on performance, compliance, and waste metrics effortlessly.</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157007-BA2B-9B58-7D1A-BEA6C283C4C9}"/>
              </a:ext>
            </a:extLst>
          </p:cNvPr>
          <p:cNvSpPr txBox="1"/>
          <p:nvPr/>
        </p:nvSpPr>
        <p:spPr>
          <a:xfrm>
            <a:off x="1747777" y="320229"/>
            <a:ext cx="10729731" cy="769441"/>
          </a:xfrm>
          <a:prstGeom prst="rect">
            <a:avLst/>
          </a:prstGeom>
          <a:noFill/>
        </p:spPr>
        <p:txBody>
          <a:bodyPr wrap="square">
            <a:spAutoFit/>
          </a:bodyPr>
          <a:lstStyle/>
          <a:p>
            <a:r>
              <a:rPr lang="en-US" sz="4400" b="1" dirty="0">
                <a:solidFill>
                  <a:srgbClr val="FF0000"/>
                </a:solidFill>
              </a:rPr>
              <a:t>A Command &amp; Control Centre for Sanitation</a:t>
            </a:r>
            <a:endParaRPr lang="en-IN" sz="4400" b="1" dirty="0">
              <a:solidFill>
                <a:srgbClr val="FF0000"/>
              </a:solidFill>
            </a:endParaRPr>
          </a:p>
        </p:txBody>
      </p:sp>
      <p:sp>
        <p:nvSpPr>
          <p:cNvPr id="7" name="TextBox 6">
            <a:extLst>
              <a:ext uri="{FF2B5EF4-FFF2-40B4-BE49-F238E27FC236}">
                <a16:creationId xmlns:a16="http://schemas.microsoft.com/office/drawing/2014/main" id="{65AD62BA-FEAD-3A69-FE8D-242F31635347}"/>
              </a:ext>
            </a:extLst>
          </p:cNvPr>
          <p:cNvSpPr txBox="1"/>
          <p:nvPr/>
        </p:nvSpPr>
        <p:spPr>
          <a:xfrm>
            <a:off x="2789500" y="1237089"/>
            <a:ext cx="7025832" cy="954107"/>
          </a:xfrm>
          <a:prstGeom prst="rect">
            <a:avLst/>
          </a:prstGeom>
          <a:noFill/>
        </p:spPr>
        <p:txBody>
          <a:bodyPr wrap="square">
            <a:spAutoFit/>
          </a:bodyPr>
          <a:lstStyle/>
          <a:p>
            <a:r>
              <a:rPr lang="en-US" sz="2800" b="1" dirty="0" err="1">
                <a:solidFill>
                  <a:schemeClr val="accent2">
                    <a:lumMod val="75000"/>
                  </a:schemeClr>
                </a:solidFill>
              </a:rPr>
              <a:t>TrashTracer</a:t>
            </a:r>
            <a:r>
              <a:rPr lang="en-US" sz="2800" b="1" dirty="0">
                <a:solidFill>
                  <a:schemeClr val="accent2">
                    <a:lumMod val="75000"/>
                  </a:schemeClr>
                </a:solidFill>
              </a:rPr>
              <a:t> AI provides a single, powerful interface for complete operational oversight.</a:t>
            </a:r>
            <a:endParaRPr lang="en-IN" sz="2800" b="1" dirty="0">
              <a:solidFill>
                <a:schemeClr val="accent2">
                  <a:lumMod val="75000"/>
                </a:schemeClr>
              </a:solidFill>
            </a:endParaRPr>
          </a:p>
        </p:txBody>
      </p:sp>
      <p:sp>
        <p:nvSpPr>
          <p:cNvPr id="9" name="TextBox 8">
            <a:extLst>
              <a:ext uri="{FF2B5EF4-FFF2-40B4-BE49-F238E27FC236}">
                <a16:creationId xmlns:a16="http://schemas.microsoft.com/office/drawing/2014/main" id="{98F239E1-347C-3A21-A902-630292465338}"/>
              </a:ext>
            </a:extLst>
          </p:cNvPr>
          <p:cNvSpPr txBox="1"/>
          <p:nvPr/>
        </p:nvSpPr>
        <p:spPr>
          <a:xfrm>
            <a:off x="983849" y="2523281"/>
            <a:ext cx="12153418" cy="5386090"/>
          </a:xfrm>
          <a:prstGeom prst="rect">
            <a:avLst/>
          </a:prstGeom>
          <a:noFill/>
        </p:spPr>
        <p:txBody>
          <a:bodyPr wrap="square" rtlCol="0">
            <a:spAutoFit/>
          </a:bodyPr>
          <a:lstStyle/>
          <a:p>
            <a:r>
              <a:rPr lang="en-US" sz="2800" b="1" dirty="0">
                <a:solidFill>
                  <a:schemeClr val="accent1"/>
                </a:solidFill>
              </a:rPr>
              <a:t>Key Point 1: Total Visibility</a:t>
            </a:r>
            <a:endParaRPr lang="en-US" sz="2800" dirty="0">
              <a:solidFill>
                <a:schemeClr val="accent1"/>
              </a:solidFill>
            </a:endParaRPr>
          </a:p>
          <a:p>
            <a:r>
              <a:rPr lang="en-US" sz="2800" dirty="0"/>
              <a:t>Monitor your entire sanitation workforce on a single map. Track routes, work hours, and completion status in real-time without relying on self-reporting.</a:t>
            </a:r>
          </a:p>
          <a:p>
            <a:r>
              <a:rPr lang="en-US" sz="2800" b="1" dirty="0">
                <a:solidFill>
                  <a:schemeClr val="accent1"/>
                </a:solidFill>
              </a:rPr>
              <a:t>Key Point 2: Data-Driven Decision Making</a:t>
            </a:r>
            <a:endParaRPr lang="en-US" sz="2800" dirty="0">
              <a:solidFill>
                <a:schemeClr val="accent1"/>
              </a:solidFill>
            </a:endParaRPr>
          </a:p>
          <a:p>
            <a:r>
              <a:rPr lang="en-US" sz="2800" dirty="0"/>
              <a:t>Move from reactive complaint handling to proactive management. Use AI-generated insights to identify problem areas, allocate resources effectively, and prevent issues before they escalate.</a:t>
            </a:r>
          </a:p>
          <a:p>
            <a:r>
              <a:rPr lang="en-US" sz="2800" b="1" dirty="0">
                <a:solidFill>
                  <a:schemeClr val="accent1"/>
                </a:solidFill>
              </a:rPr>
              <a:t>Key Point 3: Streamlined Management</a:t>
            </a:r>
            <a:endParaRPr lang="en-US" sz="2800" dirty="0">
              <a:solidFill>
                <a:schemeClr val="accent1"/>
              </a:solidFill>
            </a:endParaRPr>
          </a:p>
          <a:p>
            <a:r>
              <a:rPr lang="en-US" sz="2800" dirty="0"/>
              <a:t>Eliminate the need for multiple apps and manual verification processes. Manage everything from alerts to performance reports from one centralized, secure dashboard.</a:t>
            </a:r>
          </a:p>
          <a:p>
            <a:endParaRPr lang="en-US" dirty="0"/>
          </a:p>
          <a:p>
            <a:endParaRPr lang="en-IN" dirty="0"/>
          </a:p>
        </p:txBody>
      </p:sp>
    </p:spTree>
    <p:extLst>
      <p:ext uri="{BB962C8B-B14F-4D97-AF65-F5344CB8AC3E}">
        <p14:creationId xmlns:p14="http://schemas.microsoft.com/office/powerpoint/2010/main" val="10847109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959524"/>
            <a:ext cx="7120890" cy="566976"/>
          </a:xfrm>
          <a:prstGeom prst="rect">
            <a:avLst/>
          </a:prstGeom>
          <a:noFill/>
          <a:ln/>
        </p:spPr>
        <p:txBody>
          <a:bodyPr wrap="none" lIns="0" tIns="0" rIns="0" bIns="0" rtlCol="0" anchor="t"/>
          <a:lstStyle/>
          <a:p>
            <a:pPr marL="0" indent="0" algn="l">
              <a:lnSpc>
                <a:spcPts val="4450"/>
              </a:lnSpc>
              <a:buNone/>
            </a:pPr>
            <a:r>
              <a:rPr lang="en-US" sz="3550" b="1" dirty="0">
                <a:solidFill>
                  <a:srgbClr val="FF0000"/>
                </a:solidFill>
                <a:latin typeface="Inter" pitchFamily="34" charset="0"/>
                <a:ea typeface="Inter" pitchFamily="34" charset="-122"/>
                <a:cs typeface="Inter" pitchFamily="34" charset="-120"/>
              </a:rPr>
              <a:t>Why TrashTracer AI Stands Apart</a:t>
            </a:r>
            <a:endParaRPr lang="en-US" sz="3550" b="1" dirty="0">
              <a:solidFill>
                <a:srgbClr val="FF0000"/>
              </a:solidFill>
            </a:endParaRPr>
          </a:p>
        </p:txBody>
      </p:sp>
      <p:sp>
        <p:nvSpPr>
          <p:cNvPr id="3" name="Text 1"/>
          <p:cNvSpPr/>
          <p:nvPr/>
        </p:nvSpPr>
        <p:spPr>
          <a:xfrm>
            <a:off x="793790" y="2189798"/>
            <a:ext cx="7604284" cy="1451610"/>
          </a:xfrm>
          <a:prstGeom prst="rect">
            <a:avLst/>
          </a:prstGeom>
          <a:noFill/>
          <a:ln/>
        </p:spPr>
        <p:txBody>
          <a:bodyPr wrap="square" lIns="0" tIns="0" rIns="0" bIns="0" rtlCol="0" anchor="t"/>
          <a:lstStyle/>
          <a:p>
            <a:pPr marL="0" indent="0" algn="l">
              <a:lnSpc>
                <a:spcPts val="2850"/>
              </a:lnSpc>
              <a:buNone/>
            </a:pPr>
            <a:r>
              <a:rPr lang="en-US" sz="1750" dirty="0">
                <a:solidFill>
                  <a:schemeClr val="accent2"/>
                </a:solidFill>
                <a:latin typeface="Manrope" pitchFamily="34" charset="0"/>
                <a:ea typeface="Manrope" pitchFamily="34" charset="-122"/>
                <a:cs typeface="Manrope" pitchFamily="34" charset="-120"/>
              </a:rPr>
              <a:t>TrashTracer AI revolutionises waste management by providing higher authorities with unparalleled control and insights. Our unique backend-only approach eliminates the complexities of public-facing applications, ensuring a streamlined, authority-centric solution</a:t>
            </a:r>
            <a:r>
              <a:rPr lang="en-US" sz="1750" dirty="0">
                <a:solidFill>
                  <a:srgbClr val="55575A"/>
                </a:solidFill>
                <a:latin typeface="Manrope" pitchFamily="34" charset="0"/>
                <a:ea typeface="Manrope" pitchFamily="34" charset="-122"/>
                <a:cs typeface="Manrope" pitchFamily="34" charset="-120"/>
              </a:rPr>
              <a:t>.</a:t>
            </a:r>
            <a:endParaRPr lang="en-US" sz="1750" dirty="0"/>
          </a:p>
        </p:txBody>
      </p:sp>
      <p:sp>
        <p:nvSpPr>
          <p:cNvPr id="4" name="Text 2"/>
          <p:cNvSpPr/>
          <p:nvPr/>
        </p:nvSpPr>
        <p:spPr>
          <a:xfrm>
            <a:off x="793790" y="3845481"/>
            <a:ext cx="7604284"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55575A"/>
                </a:solidFill>
                <a:latin typeface="Manrope" pitchFamily="34" charset="0"/>
                <a:ea typeface="Manrope" pitchFamily="34" charset="-122"/>
                <a:cs typeface="Manrope" pitchFamily="34" charset="-120"/>
              </a:rPr>
              <a:t>Authority-Centric Control:</a:t>
            </a:r>
            <a:r>
              <a:rPr lang="en-US" sz="1750" dirty="0">
                <a:solidFill>
                  <a:srgbClr val="55575A"/>
                </a:solidFill>
                <a:latin typeface="Manrope" pitchFamily="34" charset="0"/>
                <a:ea typeface="Manrope" pitchFamily="34" charset="-122"/>
                <a:cs typeface="Manrope" pitchFamily="34" charset="-120"/>
              </a:rPr>
              <a:t> Full oversight and management directly by municipal bodies.</a:t>
            </a:r>
            <a:endParaRPr lang="en-US" sz="1750" dirty="0"/>
          </a:p>
        </p:txBody>
      </p:sp>
      <p:sp>
        <p:nvSpPr>
          <p:cNvPr id="5" name="Text 3"/>
          <p:cNvSpPr/>
          <p:nvPr/>
        </p:nvSpPr>
        <p:spPr>
          <a:xfrm>
            <a:off x="793790" y="4650581"/>
            <a:ext cx="7604284"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55575A"/>
                </a:solidFill>
                <a:latin typeface="Manrope" pitchFamily="34" charset="0"/>
                <a:ea typeface="Manrope" pitchFamily="34" charset="-122"/>
                <a:cs typeface="Manrope" pitchFamily="34" charset="-120"/>
              </a:rPr>
              <a:t>Enhanced Accountability:</a:t>
            </a:r>
            <a:r>
              <a:rPr lang="en-US" sz="1750" dirty="0">
                <a:solidFill>
                  <a:srgbClr val="55575A"/>
                </a:solidFill>
                <a:latin typeface="Manrope" pitchFamily="34" charset="0"/>
                <a:ea typeface="Manrope" pitchFamily="34" charset="-122"/>
                <a:cs typeface="Manrope" pitchFamily="34" charset="-120"/>
              </a:rPr>
              <a:t> Transparent tracking of collectors and waste status ensures responsibility.</a:t>
            </a:r>
            <a:endParaRPr lang="en-US" sz="1750" dirty="0"/>
          </a:p>
        </p:txBody>
      </p:sp>
      <p:sp>
        <p:nvSpPr>
          <p:cNvPr id="6" name="Text 4"/>
          <p:cNvSpPr/>
          <p:nvPr/>
        </p:nvSpPr>
        <p:spPr>
          <a:xfrm>
            <a:off x="793790" y="5455682"/>
            <a:ext cx="7604284"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55575A"/>
                </a:solidFill>
                <a:latin typeface="Manrope" pitchFamily="34" charset="0"/>
                <a:ea typeface="Manrope" pitchFamily="34" charset="-122"/>
                <a:cs typeface="Manrope" pitchFamily="34" charset="-120"/>
              </a:rPr>
              <a:t>Unmatched Efficiency:</a:t>
            </a:r>
            <a:r>
              <a:rPr lang="en-US" sz="1750" dirty="0">
                <a:solidFill>
                  <a:srgbClr val="55575A"/>
                </a:solidFill>
                <a:latin typeface="Manrope" pitchFamily="34" charset="0"/>
                <a:ea typeface="Manrope" pitchFamily="34" charset="-122"/>
                <a:cs typeface="Manrope" pitchFamily="34" charset="-120"/>
              </a:rPr>
              <a:t> Automated processes and data-driven insights optimise operations and resource allocation.</a:t>
            </a:r>
            <a:endParaRPr lang="en-US" sz="1750" dirty="0"/>
          </a:p>
        </p:txBody>
      </p:sp>
      <p:sp>
        <p:nvSpPr>
          <p:cNvPr id="7" name="Text 5"/>
          <p:cNvSpPr/>
          <p:nvPr/>
        </p:nvSpPr>
        <p:spPr>
          <a:xfrm>
            <a:off x="793790" y="6260783"/>
            <a:ext cx="7604284"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55575A"/>
                </a:solidFill>
                <a:latin typeface="Manrope" pitchFamily="34" charset="0"/>
                <a:ea typeface="Manrope" pitchFamily="34" charset="-122"/>
                <a:cs typeface="Manrope" pitchFamily="34" charset="-120"/>
              </a:rPr>
              <a:t>Cost Reduction:</a:t>
            </a:r>
            <a:r>
              <a:rPr lang="en-US" sz="1750" dirty="0">
                <a:solidFill>
                  <a:srgbClr val="55575A"/>
                </a:solidFill>
                <a:latin typeface="Manrope" pitchFamily="34" charset="0"/>
                <a:ea typeface="Manrope" pitchFamily="34" charset="-122"/>
                <a:cs typeface="Manrope" pitchFamily="34" charset="-120"/>
              </a:rPr>
              <a:t> Streamlined operations and reduced inefficiencies lead to significant savings.</a:t>
            </a:r>
            <a:endParaRPr lang="en-US" sz="1750" dirty="0"/>
          </a:p>
        </p:txBody>
      </p:sp>
      <p:pic>
        <p:nvPicPr>
          <p:cNvPr id="10" name="Picture 9">
            <a:extLst>
              <a:ext uri="{FF2B5EF4-FFF2-40B4-BE49-F238E27FC236}">
                <a16:creationId xmlns:a16="http://schemas.microsoft.com/office/drawing/2014/main" id="{B2E92EE3-0CE9-23BB-00E0-D05DA5475238}"/>
              </a:ext>
            </a:extLst>
          </p:cNvPr>
          <p:cNvPicPr>
            <a:picLocks noChangeAspect="1"/>
          </p:cNvPicPr>
          <p:nvPr/>
        </p:nvPicPr>
        <p:blipFill>
          <a:blip r:embed="rId3"/>
          <a:stretch>
            <a:fillRect/>
          </a:stretch>
        </p:blipFill>
        <p:spPr>
          <a:xfrm>
            <a:off x="8398074" y="0"/>
            <a:ext cx="6035556" cy="778976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37830" y="579715"/>
            <a:ext cx="6533674" cy="526971"/>
          </a:xfrm>
          <a:prstGeom prst="rect">
            <a:avLst/>
          </a:prstGeom>
          <a:noFill/>
          <a:ln/>
        </p:spPr>
        <p:txBody>
          <a:bodyPr wrap="none" lIns="0" tIns="0" rIns="0" bIns="0" rtlCol="0" anchor="t"/>
          <a:lstStyle/>
          <a:p>
            <a:pPr marL="0" indent="0" algn="l">
              <a:lnSpc>
                <a:spcPts val="4150"/>
              </a:lnSpc>
              <a:buNone/>
            </a:pPr>
            <a:r>
              <a:rPr lang="en-US" sz="3300" dirty="0">
                <a:solidFill>
                  <a:srgbClr val="0C0D0F"/>
                </a:solidFill>
                <a:latin typeface="Inter" pitchFamily="34" charset="0"/>
                <a:ea typeface="Inter" pitchFamily="34" charset="-122"/>
                <a:cs typeface="Inter" pitchFamily="34" charset="-120"/>
              </a:rPr>
              <a:t>Transforming Urban Landscapes</a:t>
            </a:r>
            <a:endParaRPr lang="en-US" sz="3300" dirty="0"/>
          </a:p>
        </p:txBody>
      </p:sp>
      <p:sp>
        <p:nvSpPr>
          <p:cNvPr id="3" name="Text 1"/>
          <p:cNvSpPr/>
          <p:nvPr/>
        </p:nvSpPr>
        <p:spPr>
          <a:xfrm>
            <a:off x="737830" y="1528286"/>
            <a:ext cx="13154739" cy="674608"/>
          </a:xfrm>
          <a:prstGeom prst="rect">
            <a:avLst/>
          </a:prstGeom>
          <a:noFill/>
          <a:ln/>
        </p:spPr>
        <p:txBody>
          <a:bodyPr wrap="square" lIns="0" tIns="0" rIns="0" bIns="0" rtlCol="0" anchor="t"/>
          <a:lstStyle/>
          <a:p>
            <a:pPr marL="0" indent="0" algn="l">
              <a:lnSpc>
                <a:spcPts val="2650"/>
              </a:lnSpc>
              <a:buNone/>
            </a:pPr>
            <a:r>
              <a:rPr lang="en-US" sz="1650" dirty="0">
                <a:solidFill>
                  <a:srgbClr val="55575A"/>
                </a:solidFill>
                <a:latin typeface="Manrope" pitchFamily="34" charset="0"/>
                <a:ea typeface="Manrope" pitchFamily="34" charset="-122"/>
                <a:cs typeface="Manrope" pitchFamily="34" charset="-120"/>
              </a:rPr>
              <a:t>By adopting TrashTracer AI, cities can anticipate a visible transformation in their sanitation landscape, leading to healthier, more sustainable urban environments.</a:t>
            </a:r>
            <a:endParaRPr lang="en-US" sz="1650" dirty="0"/>
          </a:p>
        </p:txBody>
      </p:sp>
      <p:sp>
        <p:nvSpPr>
          <p:cNvPr id="4" name="Shape 2"/>
          <p:cNvSpPr/>
          <p:nvPr/>
        </p:nvSpPr>
        <p:spPr>
          <a:xfrm>
            <a:off x="1054060" y="2967157"/>
            <a:ext cx="6155650" cy="210741"/>
          </a:xfrm>
          <a:prstGeom prst="roundRect">
            <a:avLst>
              <a:gd name="adj" fmla="val 90034"/>
            </a:avLst>
          </a:prstGeom>
          <a:solidFill>
            <a:srgbClr val="FFFFFF"/>
          </a:solidFill>
          <a:ln w="7620">
            <a:solidFill>
              <a:srgbClr val="FF7047"/>
            </a:solidFill>
            <a:prstDash val="solid"/>
          </a:ln>
        </p:spPr>
      </p:sp>
      <p:sp>
        <p:nvSpPr>
          <p:cNvPr id="5" name="Shape 3"/>
          <p:cNvSpPr/>
          <p:nvPr/>
        </p:nvSpPr>
        <p:spPr>
          <a:xfrm>
            <a:off x="737830" y="2756297"/>
            <a:ext cx="632460" cy="632460"/>
          </a:xfrm>
          <a:prstGeom prst="roundRect">
            <a:avLst>
              <a:gd name="adj" fmla="val 72289"/>
            </a:avLst>
          </a:prstGeom>
          <a:solidFill>
            <a:srgbClr val="FFFFFF"/>
          </a:solidFill>
          <a:ln w="7620">
            <a:solidFill>
              <a:srgbClr val="FF7047"/>
            </a:solidFill>
            <a:prstDash val="solid"/>
          </a:ln>
        </p:spPr>
      </p:sp>
      <p:pic>
        <p:nvPicPr>
          <p:cNvPr id="6" name="Image 0" descr="preencoded.png"/>
          <p:cNvPicPr>
            <a:picLocks noChangeAspect="1"/>
          </p:cNvPicPr>
          <p:nvPr/>
        </p:nvPicPr>
        <p:blipFill>
          <a:blip r:embed="rId3"/>
          <a:stretch>
            <a:fillRect/>
          </a:stretch>
        </p:blipFill>
        <p:spPr>
          <a:xfrm>
            <a:off x="895945" y="2874883"/>
            <a:ext cx="316230" cy="395288"/>
          </a:xfrm>
          <a:prstGeom prst="rect">
            <a:avLst/>
          </a:prstGeom>
        </p:spPr>
      </p:pic>
      <p:sp>
        <p:nvSpPr>
          <p:cNvPr id="7" name="Text 4"/>
          <p:cNvSpPr/>
          <p:nvPr/>
        </p:nvSpPr>
        <p:spPr>
          <a:xfrm>
            <a:off x="948571" y="3599497"/>
            <a:ext cx="3001804" cy="329327"/>
          </a:xfrm>
          <a:prstGeom prst="rect">
            <a:avLst/>
          </a:prstGeom>
          <a:noFill/>
          <a:ln/>
        </p:spPr>
        <p:txBody>
          <a:bodyPr wrap="none" lIns="0" tIns="0" rIns="0" bIns="0" rtlCol="0" anchor="t"/>
          <a:lstStyle/>
          <a:p>
            <a:pPr marL="0" indent="0" algn="l">
              <a:lnSpc>
                <a:spcPts val="2550"/>
              </a:lnSpc>
              <a:buNone/>
            </a:pPr>
            <a:r>
              <a:rPr lang="en-US" sz="2050" dirty="0">
                <a:solidFill>
                  <a:srgbClr val="55575A"/>
                </a:solidFill>
                <a:latin typeface="Inter" pitchFamily="34" charset="0"/>
                <a:ea typeface="Inter" pitchFamily="34" charset="-122"/>
                <a:cs typeface="Inter" pitchFamily="34" charset="-120"/>
              </a:rPr>
              <a:t>Cleaner, Healthier Cities</a:t>
            </a:r>
            <a:endParaRPr lang="en-US" sz="2050" dirty="0"/>
          </a:p>
        </p:txBody>
      </p:sp>
      <p:sp>
        <p:nvSpPr>
          <p:cNvPr id="8" name="Text 5"/>
          <p:cNvSpPr/>
          <p:nvPr/>
        </p:nvSpPr>
        <p:spPr>
          <a:xfrm>
            <a:off x="948571" y="4055269"/>
            <a:ext cx="6050518" cy="674608"/>
          </a:xfrm>
          <a:prstGeom prst="rect">
            <a:avLst/>
          </a:prstGeom>
          <a:noFill/>
          <a:ln/>
        </p:spPr>
        <p:txBody>
          <a:bodyPr wrap="square" lIns="0" tIns="0" rIns="0" bIns="0" rtlCol="0" anchor="t"/>
          <a:lstStyle/>
          <a:p>
            <a:pPr marL="0" indent="0" algn="l">
              <a:lnSpc>
                <a:spcPts val="2650"/>
              </a:lnSpc>
              <a:buNone/>
            </a:pPr>
            <a:r>
              <a:rPr lang="en-US" sz="1650" dirty="0">
                <a:solidFill>
                  <a:srgbClr val="55575A"/>
                </a:solidFill>
                <a:latin typeface="Manrope" pitchFamily="34" charset="0"/>
                <a:ea typeface="Manrope" pitchFamily="34" charset="-122"/>
                <a:cs typeface="Manrope" pitchFamily="34" charset="-120"/>
              </a:rPr>
              <a:t>Proactive management of waste reduces disease vectors and improves public health.</a:t>
            </a:r>
            <a:endParaRPr lang="en-US" sz="1650" dirty="0"/>
          </a:p>
        </p:txBody>
      </p:sp>
      <p:sp>
        <p:nvSpPr>
          <p:cNvPr id="9" name="Shape 6"/>
          <p:cNvSpPr/>
          <p:nvPr/>
        </p:nvSpPr>
        <p:spPr>
          <a:xfrm>
            <a:off x="7736800" y="2650927"/>
            <a:ext cx="6155650" cy="210741"/>
          </a:xfrm>
          <a:prstGeom prst="roundRect">
            <a:avLst>
              <a:gd name="adj" fmla="val 90034"/>
            </a:avLst>
          </a:prstGeom>
          <a:solidFill>
            <a:srgbClr val="FFFFFF"/>
          </a:solidFill>
          <a:ln w="7620">
            <a:solidFill>
              <a:srgbClr val="FF7047"/>
            </a:solidFill>
            <a:prstDash val="solid"/>
          </a:ln>
        </p:spPr>
      </p:sp>
      <p:sp>
        <p:nvSpPr>
          <p:cNvPr id="10" name="Shape 7"/>
          <p:cNvSpPr/>
          <p:nvPr/>
        </p:nvSpPr>
        <p:spPr>
          <a:xfrm>
            <a:off x="7420570" y="2440067"/>
            <a:ext cx="632460" cy="632460"/>
          </a:xfrm>
          <a:prstGeom prst="roundRect">
            <a:avLst>
              <a:gd name="adj" fmla="val 72289"/>
            </a:avLst>
          </a:prstGeom>
          <a:solidFill>
            <a:srgbClr val="FFFFFF"/>
          </a:solidFill>
          <a:ln w="7620">
            <a:solidFill>
              <a:srgbClr val="FF7047"/>
            </a:solidFill>
            <a:prstDash val="solid"/>
          </a:ln>
        </p:spPr>
      </p:sp>
      <p:pic>
        <p:nvPicPr>
          <p:cNvPr id="11" name="Image 1" descr="preencoded.png"/>
          <p:cNvPicPr>
            <a:picLocks noChangeAspect="1"/>
          </p:cNvPicPr>
          <p:nvPr/>
        </p:nvPicPr>
        <p:blipFill>
          <a:blip r:embed="rId4"/>
          <a:stretch>
            <a:fillRect/>
          </a:stretch>
        </p:blipFill>
        <p:spPr>
          <a:xfrm>
            <a:off x="7578685" y="2558653"/>
            <a:ext cx="316230" cy="395288"/>
          </a:xfrm>
          <a:prstGeom prst="rect">
            <a:avLst/>
          </a:prstGeom>
        </p:spPr>
      </p:pic>
      <p:sp>
        <p:nvSpPr>
          <p:cNvPr id="12" name="Text 8"/>
          <p:cNvSpPr/>
          <p:nvPr/>
        </p:nvSpPr>
        <p:spPr>
          <a:xfrm>
            <a:off x="7631311" y="3283268"/>
            <a:ext cx="3697129" cy="329327"/>
          </a:xfrm>
          <a:prstGeom prst="rect">
            <a:avLst/>
          </a:prstGeom>
          <a:noFill/>
          <a:ln/>
        </p:spPr>
        <p:txBody>
          <a:bodyPr wrap="none" lIns="0" tIns="0" rIns="0" bIns="0" rtlCol="0" anchor="t"/>
          <a:lstStyle/>
          <a:p>
            <a:pPr marL="0" indent="0" algn="l">
              <a:lnSpc>
                <a:spcPts val="2550"/>
              </a:lnSpc>
              <a:buNone/>
            </a:pPr>
            <a:r>
              <a:rPr lang="en-US" sz="2050" dirty="0">
                <a:solidFill>
                  <a:srgbClr val="55575A"/>
                </a:solidFill>
                <a:latin typeface="Inter" pitchFamily="34" charset="0"/>
                <a:ea typeface="Inter" pitchFamily="34" charset="-122"/>
                <a:cs typeface="Inter" pitchFamily="34" charset="-120"/>
              </a:rPr>
              <a:t>Increased Citizen Satisfaction</a:t>
            </a:r>
            <a:endParaRPr lang="en-US" sz="2050" dirty="0"/>
          </a:p>
        </p:txBody>
      </p:sp>
      <p:sp>
        <p:nvSpPr>
          <p:cNvPr id="13" name="Text 9"/>
          <p:cNvSpPr/>
          <p:nvPr/>
        </p:nvSpPr>
        <p:spPr>
          <a:xfrm>
            <a:off x="7631311" y="3739039"/>
            <a:ext cx="6050518" cy="674608"/>
          </a:xfrm>
          <a:prstGeom prst="rect">
            <a:avLst/>
          </a:prstGeom>
          <a:noFill/>
          <a:ln/>
        </p:spPr>
        <p:txBody>
          <a:bodyPr wrap="square" lIns="0" tIns="0" rIns="0" bIns="0" rtlCol="0" anchor="t"/>
          <a:lstStyle/>
          <a:p>
            <a:pPr marL="0" indent="0" algn="l">
              <a:lnSpc>
                <a:spcPts val="2650"/>
              </a:lnSpc>
              <a:buNone/>
            </a:pPr>
            <a:r>
              <a:rPr lang="en-US" sz="1650" dirty="0">
                <a:solidFill>
                  <a:srgbClr val="55575A"/>
                </a:solidFill>
                <a:latin typeface="Manrope" pitchFamily="34" charset="0"/>
                <a:ea typeface="Manrope" pitchFamily="34" charset="-122"/>
                <a:cs typeface="Manrope" pitchFamily="34" charset="-120"/>
              </a:rPr>
              <a:t>Prompt resolution of complaints and consistently clean environments enhance quality of life.</a:t>
            </a:r>
            <a:endParaRPr lang="en-US" sz="1650" dirty="0"/>
          </a:p>
        </p:txBody>
      </p:sp>
      <p:sp>
        <p:nvSpPr>
          <p:cNvPr id="14" name="Shape 10"/>
          <p:cNvSpPr/>
          <p:nvPr/>
        </p:nvSpPr>
        <p:spPr>
          <a:xfrm>
            <a:off x="1054060" y="5678448"/>
            <a:ext cx="6155650" cy="210741"/>
          </a:xfrm>
          <a:prstGeom prst="roundRect">
            <a:avLst>
              <a:gd name="adj" fmla="val 90034"/>
            </a:avLst>
          </a:prstGeom>
          <a:solidFill>
            <a:srgbClr val="FFFFFF"/>
          </a:solidFill>
          <a:ln w="7620">
            <a:solidFill>
              <a:srgbClr val="FF7047"/>
            </a:solidFill>
            <a:prstDash val="solid"/>
          </a:ln>
        </p:spPr>
      </p:sp>
      <p:sp>
        <p:nvSpPr>
          <p:cNvPr id="15" name="Shape 11"/>
          <p:cNvSpPr/>
          <p:nvPr/>
        </p:nvSpPr>
        <p:spPr>
          <a:xfrm>
            <a:off x="737830" y="5467588"/>
            <a:ext cx="632460" cy="632460"/>
          </a:xfrm>
          <a:prstGeom prst="roundRect">
            <a:avLst>
              <a:gd name="adj" fmla="val 72289"/>
            </a:avLst>
          </a:prstGeom>
          <a:solidFill>
            <a:srgbClr val="FFFFFF"/>
          </a:solidFill>
          <a:ln w="7620">
            <a:solidFill>
              <a:srgbClr val="FF7047"/>
            </a:solidFill>
            <a:prstDash val="solid"/>
          </a:ln>
        </p:spPr>
      </p:sp>
      <p:pic>
        <p:nvPicPr>
          <p:cNvPr id="16" name="Image 2" descr="preencoded.png"/>
          <p:cNvPicPr>
            <a:picLocks noChangeAspect="1"/>
          </p:cNvPicPr>
          <p:nvPr/>
        </p:nvPicPr>
        <p:blipFill>
          <a:blip r:embed="rId5"/>
          <a:stretch>
            <a:fillRect/>
          </a:stretch>
        </p:blipFill>
        <p:spPr>
          <a:xfrm>
            <a:off x="895945" y="5586174"/>
            <a:ext cx="316230" cy="395288"/>
          </a:xfrm>
          <a:prstGeom prst="rect">
            <a:avLst/>
          </a:prstGeom>
        </p:spPr>
      </p:pic>
      <p:sp>
        <p:nvSpPr>
          <p:cNvPr id="17" name="Text 12"/>
          <p:cNvSpPr/>
          <p:nvPr/>
        </p:nvSpPr>
        <p:spPr>
          <a:xfrm>
            <a:off x="948571" y="6310789"/>
            <a:ext cx="3805237" cy="329327"/>
          </a:xfrm>
          <a:prstGeom prst="rect">
            <a:avLst/>
          </a:prstGeom>
          <a:noFill/>
          <a:ln/>
        </p:spPr>
        <p:txBody>
          <a:bodyPr wrap="none" lIns="0" tIns="0" rIns="0" bIns="0" rtlCol="0" anchor="t"/>
          <a:lstStyle/>
          <a:p>
            <a:pPr marL="0" indent="0" algn="l">
              <a:lnSpc>
                <a:spcPts val="2550"/>
              </a:lnSpc>
              <a:buNone/>
            </a:pPr>
            <a:r>
              <a:rPr lang="en-US" sz="2050" dirty="0">
                <a:solidFill>
                  <a:srgbClr val="55575A"/>
                </a:solidFill>
                <a:latin typeface="Inter" pitchFamily="34" charset="0"/>
                <a:ea typeface="Inter" pitchFamily="34" charset="-122"/>
                <a:cs typeface="Inter" pitchFamily="34" charset="-120"/>
              </a:rPr>
              <a:t>Optimised Resource Utilisation</a:t>
            </a:r>
            <a:endParaRPr lang="en-US" sz="2050" dirty="0"/>
          </a:p>
        </p:txBody>
      </p:sp>
      <p:sp>
        <p:nvSpPr>
          <p:cNvPr id="18" name="Text 13"/>
          <p:cNvSpPr/>
          <p:nvPr/>
        </p:nvSpPr>
        <p:spPr>
          <a:xfrm>
            <a:off x="948571" y="6766560"/>
            <a:ext cx="6050518" cy="674608"/>
          </a:xfrm>
          <a:prstGeom prst="rect">
            <a:avLst/>
          </a:prstGeom>
          <a:noFill/>
          <a:ln/>
        </p:spPr>
        <p:txBody>
          <a:bodyPr wrap="square" lIns="0" tIns="0" rIns="0" bIns="0" rtlCol="0" anchor="t"/>
          <a:lstStyle/>
          <a:p>
            <a:pPr marL="0" indent="0" algn="l">
              <a:lnSpc>
                <a:spcPts val="2650"/>
              </a:lnSpc>
              <a:buNone/>
            </a:pPr>
            <a:r>
              <a:rPr lang="en-US" sz="1650" dirty="0">
                <a:solidFill>
                  <a:srgbClr val="55575A"/>
                </a:solidFill>
                <a:latin typeface="Manrope" pitchFamily="34" charset="0"/>
                <a:ea typeface="Manrope" pitchFamily="34" charset="-122"/>
                <a:cs typeface="Manrope" pitchFamily="34" charset="-120"/>
              </a:rPr>
              <a:t>Efficient routing and data-driven decisions ensure taxpayer money is spent wisely.</a:t>
            </a:r>
            <a:endParaRPr lang="en-US" sz="1650" dirty="0"/>
          </a:p>
        </p:txBody>
      </p:sp>
      <p:sp>
        <p:nvSpPr>
          <p:cNvPr id="19" name="Shape 14"/>
          <p:cNvSpPr/>
          <p:nvPr/>
        </p:nvSpPr>
        <p:spPr>
          <a:xfrm>
            <a:off x="7736800" y="5362218"/>
            <a:ext cx="6155650" cy="210741"/>
          </a:xfrm>
          <a:prstGeom prst="roundRect">
            <a:avLst>
              <a:gd name="adj" fmla="val 90034"/>
            </a:avLst>
          </a:prstGeom>
          <a:solidFill>
            <a:srgbClr val="FFFFFF"/>
          </a:solidFill>
          <a:ln w="7620">
            <a:solidFill>
              <a:srgbClr val="FF7047"/>
            </a:solidFill>
            <a:prstDash val="solid"/>
          </a:ln>
        </p:spPr>
      </p:sp>
      <p:sp>
        <p:nvSpPr>
          <p:cNvPr id="20" name="Shape 15"/>
          <p:cNvSpPr/>
          <p:nvPr/>
        </p:nvSpPr>
        <p:spPr>
          <a:xfrm>
            <a:off x="7420570" y="5151358"/>
            <a:ext cx="632460" cy="632460"/>
          </a:xfrm>
          <a:prstGeom prst="roundRect">
            <a:avLst>
              <a:gd name="adj" fmla="val 72289"/>
            </a:avLst>
          </a:prstGeom>
          <a:solidFill>
            <a:srgbClr val="FFFFFF"/>
          </a:solidFill>
          <a:ln w="7620">
            <a:solidFill>
              <a:srgbClr val="FF7047"/>
            </a:solidFill>
            <a:prstDash val="solid"/>
          </a:ln>
        </p:spPr>
      </p:sp>
      <p:pic>
        <p:nvPicPr>
          <p:cNvPr id="21" name="Image 3" descr="preencoded.png"/>
          <p:cNvPicPr>
            <a:picLocks noChangeAspect="1"/>
          </p:cNvPicPr>
          <p:nvPr/>
        </p:nvPicPr>
        <p:blipFill>
          <a:blip r:embed="rId6"/>
          <a:stretch>
            <a:fillRect/>
          </a:stretch>
        </p:blipFill>
        <p:spPr>
          <a:xfrm>
            <a:off x="7578685" y="5269944"/>
            <a:ext cx="316230" cy="395288"/>
          </a:xfrm>
          <a:prstGeom prst="rect">
            <a:avLst/>
          </a:prstGeom>
        </p:spPr>
      </p:pic>
      <p:sp>
        <p:nvSpPr>
          <p:cNvPr id="22" name="Text 16"/>
          <p:cNvSpPr/>
          <p:nvPr/>
        </p:nvSpPr>
        <p:spPr>
          <a:xfrm>
            <a:off x="7631311" y="5994559"/>
            <a:ext cx="3415427" cy="329327"/>
          </a:xfrm>
          <a:prstGeom prst="rect">
            <a:avLst/>
          </a:prstGeom>
          <a:noFill/>
          <a:ln/>
        </p:spPr>
        <p:txBody>
          <a:bodyPr wrap="none" lIns="0" tIns="0" rIns="0" bIns="0" rtlCol="0" anchor="t"/>
          <a:lstStyle/>
          <a:p>
            <a:pPr marL="0" indent="0" algn="l">
              <a:lnSpc>
                <a:spcPts val="2550"/>
              </a:lnSpc>
              <a:buNone/>
            </a:pPr>
            <a:r>
              <a:rPr lang="en-US" sz="2050" dirty="0">
                <a:solidFill>
                  <a:srgbClr val="55575A"/>
                </a:solidFill>
                <a:latin typeface="Inter" pitchFamily="34" charset="0"/>
                <a:ea typeface="Inter" pitchFamily="34" charset="-122"/>
                <a:cs typeface="Inter" pitchFamily="34" charset="-120"/>
              </a:rPr>
              <a:t>Smarter Urban Governance</a:t>
            </a:r>
            <a:endParaRPr lang="en-US" sz="2050" dirty="0"/>
          </a:p>
        </p:txBody>
      </p:sp>
      <p:sp>
        <p:nvSpPr>
          <p:cNvPr id="23" name="Text 17"/>
          <p:cNvSpPr/>
          <p:nvPr/>
        </p:nvSpPr>
        <p:spPr>
          <a:xfrm>
            <a:off x="7631311" y="6450330"/>
            <a:ext cx="6050518" cy="674608"/>
          </a:xfrm>
          <a:prstGeom prst="rect">
            <a:avLst/>
          </a:prstGeom>
          <a:noFill/>
          <a:ln/>
        </p:spPr>
        <p:txBody>
          <a:bodyPr wrap="square" lIns="0" tIns="0" rIns="0" bIns="0" rtlCol="0" anchor="t"/>
          <a:lstStyle/>
          <a:p>
            <a:pPr marL="0" indent="0" algn="l">
              <a:lnSpc>
                <a:spcPts val="2650"/>
              </a:lnSpc>
              <a:buNone/>
            </a:pPr>
            <a:r>
              <a:rPr lang="en-US" sz="1650" dirty="0">
                <a:solidFill>
                  <a:srgbClr val="55575A"/>
                </a:solidFill>
                <a:latin typeface="Manrope" pitchFamily="34" charset="0"/>
                <a:ea typeface="Manrope" pitchFamily="34" charset="-122"/>
                <a:cs typeface="Manrope" pitchFamily="34" charset="-120"/>
              </a:rPr>
              <a:t>Leveraging AI for urban services positions cities at the forefront of modern governance.</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21256" y="409932"/>
            <a:ext cx="3423404" cy="372308"/>
          </a:xfrm>
          <a:prstGeom prst="rect">
            <a:avLst/>
          </a:prstGeom>
          <a:noFill/>
          <a:ln/>
        </p:spPr>
        <p:txBody>
          <a:bodyPr wrap="none" lIns="0" tIns="0" rIns="0" bIns="0" rtlCol="0" anchor="t"/>
          <a:lstStyle/>
          <a:p>
            <a:pPr marL="0" indent="0" algn="l">
              <a:lnSpc>
                <a:spcPts val="2900"/>
              </a:lnSpc>
              <a:buNone/>
            </a:pPr>
            <a:r>
              <a:rPr lang="en-US" sz="4000" dirty="0">
                <a:latin typeface="Inter" pitchFamily="34" charset="0"/>
                <a:ea typeface="Inter" pitchFamily="34" charset="-122"/>
                <a:cs typeface="Inter" pitchFamily="34" charset="-120"/>
              </a:rPr>
              <a:t>Key Benefits at a Glance</a:t>
            </a:r>
            <a:endParaRPr lang="en-US" sz="4000" dirty="0"/>
          </a:p>
        </p:txBody>
      </p:sp>
      <p:sp>
        <p:nvSpPr>
          <p:cNvPr id="3" name="Text 1"/>
          <p:cNvSpPr/>
          <p:nvPr/>
        </p:nvSpPr>
        <p:spPr>
          <a:xfrm>
            <a:off x="521256" y="1080135"/>
            <a:ext cx="13587889" cy="238244"/>
          </a:xfrm>
          <a:prstGeom prst="rect">
            <a:avLst/>
          </a:prstGeom>
          <a:noFill/>
          <a:ln/>
        </p:spPr>
        <p:txBody>
          <a:bodyPr wrap="none" lIns="0" tIns="0" rIns="0" bIns="0" rtlCol="0" anchor="t"/>
          <a:lstStyle/>
          <a:p>
            <a:pPr marL="0" indent="0" algn="l">
              <a:lnSpc>
                <a:spcPts val="1850"/>
              </a:lnSpc>
              <a:buNone/>
            </a:pPr>
            <a:r>
              <a:rPr lang="en-US" dirty="0">
                <a:solidFill>
                  <a:schemeClr val="accent5">
                    <a:lumMod val="75000"/>
                  </a:schemeClr>
                </a:solidFill>
                <a:latin typeface="Manrope" pitchFamily="34" charset="0"/>
                <a:ea typeface="Manrope" pitchFamily="34" charset="-122"/>
                <a:cs typeface="Manrope" pitchFamily="34" charset="-120"/>
              </a:rPr>
              <a:t>TrashTracer AI offers a comprehensive solution that delivers tangible benefits across all facets of urban waste management</a:t>
            </a:r>
            <a:r>
              <a:rPr lang="en-US" sz="1150" dirty="0">
                <a:solidFill>
                  <a:srgbClr val="FFFFFF"/>
                </a:solidFill>
                <a:latin typeface="Manrope" pitchFamily="34" charset="0"/>
                <a:ea typeface="Manrope" pitchFamily="34" charset="-122"/>
                <a:cs typeface="Manrope" pitchFamily="34" charset="-120"/>
              </a:rPr>
              <a:t>.</a:t>
            </a:r>
            <a:endParaRPr lang="en-US" sz="1150" dirty="0"/>
          </a:p>
        </p:txBody>
      </p:sp>
      <p:sp>
        <p:nvSpPr>
          <p:cNvPr id="4" name="Text 2"/>
          <p:cNvSpPr/>
          <p:nvPr/>
        </p:nvSpPr>
        <p:spPr>
          <a:xfrm>
            <a:off x="2955488" y="2453997"/>
            <a:ext cx="1832134" cy="372308"/>
          </a:xfrm>
          <a:prstGeom prst="rect">
            <a:avLst/>
          </a:prstGeom>
          <a:noFill/>
          <a:ln/>
        </p:spPr>
        <p:txBody>
          <a:bodyPr wrap="none" lIns="0" tIns="0" rIns="0" bIns="0" rtlCol="0" anchor="t"/>
          <a:lstStyle/>
          <a:p>
            <a:pPr marL="0" indent="0" algn="ctr">
              <a:lnSpc>
                <a:spcPts val="2900"/>
              </a:lnSpc>
              <a:buNone/>
            </a:pPr>
            <a:r>
              <a:rPr lang="en-US" sz="2900" dirty="0">
                <a:solidFill>
                  <a:srgbClr val="000000"/>
                </a:solidFill>
                <a:latin typeface="Inter" pitchFamily="34" charset="0"/>
                <a:ea typeface="Inter" pitchFamily="34" charset="-122"/>
                <a:cs typeface="Inter" pitchFamily="34" charset="-120"/>
              </a:rPr>
              <a:t>30%</a:t>
            </a:r>
            <a:endParaRPr lang="en-US" sz="2900" dirty="0"/>
          </a:p>
        </p:txBody>
      </p:sp>
      <p:pic>
        <p:nvPicPr>
          <p:cNvPr id="5" name="Image 0" descr="preencoded.png"/>
          <p:cNvPicPr>
            <a:picLocks noChangeAspect="1"/>
          </p:cNvPicPr>
          <p:nvPr/>
        </p:nvPicPr>
        <p:blipFill>
          <a:blip r:embed="rId3"/>
          <a:stretch>
            <a:fillRect/>
          </a:stretch>
        </p:blipFill>
        <p:spPr>
          <a:xfrm>
            <a:off x="2754511" y="1523047"/>
            <a:ext cx="2234327" cy="2234327"/>
          </a:xfrm>
          <a:prstGeom prst="rect">
            <a:avLst/>
          </a:prstGeom>
        </p:spPr>
      </p:pic>
      <p:sp>
        <p:nvSpPr>
          <p:cNvPr id="6" name="Text 3"/>
          <p:cNvSpPr/>
          <p:nvPr/>
        </p:nvSpPr>
        <p:spPr>
          <a:xfrm>
            <a:off x="2642593" y="3814107"/>
            <a:ext cx="2805708" cy="232767"/>
          </a:xfrm>
          <a:prstGeom prst="rect">
            <a:avLst/>
          </a:prstGeom>
          <a:noFill/>
          <a:ln/>
        </p:spPr>
        <p:txBody>
          <a:bodyPr wrap="none" lIns="0" tIns="0" rIns="0" bIns="0" rtlCol="0" anchor="t"/>
          <a:lstStyle/>
          <a:p>
            <a:pPr marL="0" indent="0" algn="ctr">
              <a:lnSpc>
                <a:spcPts val="1800"/>
              </a:lnSpc>
              <a:buNone/>
            </a:pPr>
            <a:r>
              <a:rPr lang="en-US" dirty="0">
                <a:latin typeface="Inter" pitchFamily="34" charset="0"/>
                <a:ea typeface="Inter" pitchFamily="34" charset="-122"/>
                <a:cs typeface="Inter" pitchFamily="34" charset="-120"/>
              </a:rPr>
              <a:t>Reduction in Missed Collections</a:t>
            </a:r>
            <a:endParaRPr lang="en-US" dirty="0"/>
          </a:p>
        </p:txBody>
      </p:sp>
      <p:sp>
        <p:nvSpPr>
          <p:cNvPr id="7" name="Text 4"/>
          <p:cNvSpPr/>
          <p:nvPr/>
        </p:nvSpPr>
        <p:spPr>
          <a:xfrm>
            <a:off x="695028" y="4111883"/>
            <a:ext cx="6700838" cy="238244"/>
          </a:xfrm>
          <a:prstGeom prst="rect">
            <a:avLst/>
          </a:prstGeom>
          <a:noFill/>
          <a:ln/>
        </p:spPr>
        <p:txBody>
          <a:bodyPr wrap="none" lIns="0" tIns="0" rIns="0" bIns="0" rtlCol="0" anchor="t"/>
          <a:lstStyle/>
          <a:p>
            <a:pPr marL="0" indent="0" algn="ctr">
              <a:lnSpc>
                <a:spcPts val="1850"/>
              </a:lnSpc>
              <a:buNone/>
            </a:pPr>
            <a:r>
              <a:rPr lang="en-US" sz="2000" dirty="0">
                <a:solidFill>
                  <a:srgbClr val="FFFFFF"/>
                </a:solidFill>
                <a:latin typeface="Manrope" pitchFamily="34" charset="0"/>
                <a:ea typeface="Manrope" pitchFamily="34" charset="-122"/>
                <a:cs typeface="Manrope" pitchFamily="34" charset="-120"/>
              </a:rPr>
              <a:t>Through real-time tracking and automated alerts.</a:t>
            </a:r>
            <a:endParaRPr lang="en-US" sz="2000" dirty="0"/>
          </a:p>
        </p:txBody>
      </p:sp>
      <p:sp>
        <p:nvSpPr>
          <p:cNvPr id="8" name="Text 5"/>
          <p:cNvSpPr/>
          <p:nvPr/>
        </p:nvSpPr>
        <p:spPr>
          <a:xfrm>
            <a:off x="9842421" y="2453997"/>
            <a:ext cx="1832134" cy="372308"/>
          </a:xfrm>
          <a:prstGeom prst="rect">
            <a:avLst/>
          </a:prstGeom>
          <a:noFill/>
          <a:ln/>
        </p:spPr>
        <p:txBody>
          <a:bodyPr wrap="none" lIns="0" tIns="0" rIns="0" bIns="0" rtlCol="0" anchor="t"/>
          <a:lstStyle/>
          <a:p>
            <a:pPr marL="0" indent="0" algn="ctr">
              <a:lnSpc>
                <a:spcPts val="2900"/>
              </a:lnSpc>
              <a:buNone/>
            </a:pPr>
            <a:r>
              <a:rPr lang="en-US" sz="2900" dirty="0">
                <a:solidFill>
                  <a:srgbClr val="000000"/>
                </a:solidFill>
                <a:latin typeface="Inter" pitchFamily="34" charset="0"/>
                <a:ea typeface="Inter" pitchFamily="34" charset="-122"/>
                <a:cs typeface="Inter" pitchFamily="34" charset="-120"/>
              </a:rPr>
              <a:t>50%</a:t>
            </a:r>
            <a:endParaRPr lang="en-US" sz="2900" dirty="0"/>
          </a:p>
        </p:txBody>
      </p:sp>
      <p:pic>
        <p:nvPicPr>
          <p:cNvPr id="9" name="Image 1" descr="preencoded.png"/>
          <p:cNvPicPr>
            <a:picLocks noChangeAspect="1"/>
          </p:cNvPicPr>
          <p:nvPr/>
        </p:nvPicPr>
        <p:blipFill>
          <a:blip r:embed="rId4"/>
          <a:stretch>
            <a:fillRect/>
          </a:stretch>
        </p:blipFill>
        <p:spPr>
          <a:xfrm>
            <a:off x="9641443" y="1523047"/>
            <a:ext cx="2234327" cy="2234327"/>
          </a:xfrm>
          <a:prstGeom prst="rect">
            <a:avLst/>
          </a:prstGeom>
        </p:spPr>
      </p:pic>
      <p:sp>
        <p:nvSpPr>
          <p:cNvPr id="10" name="Text 6"/>
          <p:cNvSpPr/>
          <p:nvPr/>
        </p:nvSpPr>
        <p:spPr>
          <a:xfrm>
            <a:off x="9529524" y="3943469"/>
            <a:ext cx="2458283" cy="232767"/>
          </a:xfrm>
          <a:prstGeom prst="rect">
            <a:avLst/>
          </a:prstGeom>
          <a:noFill/>
          <a:ln/>
        </p:spPr>
        <p:txBody>
          <a:bodyPr wrap="none" lIns="0" tIns="0" rIns="0" bIns="0" rtlCol="0" anchor="t"/>
          <a:lstStyle/>
          <a:p>
            <a:pPr marL="0" indent="0" algn="ctr">
              <a:lnSpc>
                <a:spcPts val="1800"/>
              </a:lnSpc>
              <a:buNone/>
            </a:pPr>
            <a:r>
              <a:rPr lang="en-US" dirty="0">
                <a:solidFill>
                  <a:srgbClr val="FFFFFF"/>
                </a:solidFill>
                <a:latin typeface="Inter" pitchFamily="34" charset="0"/>
                <a:ea typeface="Inter" pitchFamily="34" charset="-122"/>
                <a:cs typeface="Inter" pitchFamily="34" charset="-120"/>
              </a:rPr>
              <a:t>Faster Complaint Resolution</a:t>
            </a:r>
            <a:endParaRPr lang="en-US" dirty="0"/>
          </a:p>
        </p:txBody>
      </p:sp>
      <p:sp>
        <p:nvSpPr>
          <p:cNvPr id="11" name="Text 7"/>
          <p:cNvSpPr/>
          <p:nvPr/>
        </p:nvSpPr>
        <p:spPr>
          <a:xfrm>
            <a:off x="7354916" y="4345239"/>
            <a:ext cx="6700957" cy="238244"/>
          </a:xfrm>
          <a:prstGeom prst="rect">
            <a:avLst/>
          </a:prstGeom>
          <a:noFill/>
          <a:ln/>
        </p:spPr>
        <p:txBody>
          <a:bodyPr wrap="none" lIns="0" tIns="0" rIns="0" bIns="0" rtlCol="0" anchor="t"/>
          <a:lstStyle/>
          <a:p>
            <a:pPr marL="0" indent="0" algn="ctr">
              <a:lnSpc>
                <a:spcPts val="1850"/>
              </a:lnSpc>
              <a:buNone/>
            </a:pPr>
            <a:r>
              <a:rPr lang="en-US" dirty="0">
                <a:latin typeface="Manrope" pitchFamily="34" charset="0"/>
                <a:ea typeface="Manrope" pitchFamily="34" charset="-122"/>
                <a:cs typeface="Manrope" pitchFamily="34" charset="-120"/>
              </a:rPr>
              <a:t>Enabled by instant WhatsApp integration</a:t>
            </a:r>
            <a:r>
              <a:rPr lang="en-US" sz="1150" dirty="0">
                <a:solidFill>
                  <a:srgbClr val="FFFFFF"/>
                </a:solidFill>
                <a:latin typeface="Manrope" pitchFamily="34" charset="0"/>
                <a:ea typeface="Manrope" pitchFamily="34" charset="-122"/>
                <a:cs typeface="Manrope" pitchFamily="34" charset="-120"/>
              </a:rPr>
              <a:t>.</a:t>
            </a:r>
            <a:endParaRPr lang="en-US" sz="1150" dirty="0"/>
          </a:p>
        </p:txBody>
      </p:sp>
      <p:sp>
        <p:nvSpPr>
          <p:cNvPr id="12" name="Text 8"/>
          <p:cNvSpPr/>
          <p:nvPr/>
        </p:nvSpPr>
        <p:spPr>
          <a:xfrm>
            <a:off x="2955488" y="5769769"/>
            <a:ext cx="1832134" cy="372308"/>
          </a:xfrm>
          <a:prstGeom prst="rect">
            <a:avLst/>
          </a:prstGeom>
          <a:noFill/>
          <a:ln/>
        </p:spPr>
        <p:txBody>
          <a:bodyPr wrap="none" lIns="0" tIns="0" rIns="0" bIns="0" rtlCol="0" anchor="t"/>
          <a:lstStyle/>
          <a:p>
            <a:pPr marL="0" indent="0" algn="ctr">
              <a:lnSpc>
                <a:spcPts val="2900"/>
              </a:lnSpc>
              <a:buNone/>
            </a:pPr>
            <a:r>
              <a:rPr lang="en-US" sz="2900" dirty="0">
                <a:solidFill>
                  <a:srgbClr val="000000"/>
                </a:solidFill>
                <a:latin typeface="Inter" pitchFamily="34" charset="0"/>
                <a:ea typeface="Inter" pitchFamily="34" charset="-122"/>
                <a:cs typeface="Inter" pitchFamily="34" charset="-120"/>
              </a:rPr>
              <a:t>20%</a:t>
            </a:r>
            <a:endParaRPr lang="en-US" sz="2900" dirty="0"/>
          </a:p>
        </p:txBody>
      </p:sp>
      <p:pic>
        <p:nvPicPr>
          <p:cNvPr id="13" name="Image 2" descr="preencoded.png"/>
          <p:cNvPicPr>
            <a:picLocks noChangeAspect="1"/>
          </p:cNvPicPr>
          <p:nvPr/>
        </p:nvPicPr>
        <p:blipFill>
          <a:blip r:embed="rId5"/>
          <a:stretch>
            <a:fillRect/>
          </a:stretch>
        </p:blipFill>
        <p:spPr>
          <a:xfrm>
            <a:off x="2754511" y="4838819"/>
            <a:ext cx="2234327" cy="2234327"/>
          </a:xfrm>
          <a:prstGeom prst="rect">
            <a:avLst/>
          </a:prstGeom>
        </p:spPr>
      </p:pic>
      <p:sp>
        <p:nvSpPr>
          <p:cNvPr id="14" name="Text 9"/>
          <p:cNvSpPr/>
          <p:nvPr/>
        </p:nvSpPr>
        <p:spPr>
          <a:xfrm>
            <a:off x="2537103" y="7259241"/>
            <a:ext cx="2669024" cy="232767"/>
          </a:xfrm>
          <a:prstGeom prst="rect">
            <a:avLst/>
          </a:prstGeom>
          <a:noFill/>
          <a:ln/>
        </p:spPr>
        <p:txBody>
          <a:bodyPr wrap="none" lIns="0" tIns="0" rIns="0" bIns="0" rtlCol="0" anchor="t"/>
          <a:lstStyle/>
          <a:p>
            <a:pPr marL="0" indent="0" algn="ctr">
              <a:lnSpc>
                <a:spcPts val="1800"/>
              </a:lnSpc>
              <a:buNone/>
            </a:pPr>
            <a:r>
              <a:rPr lang="en-US" dirty="0">
                <a:latin typeface="Inter" pitchFamily="34" charset="0"/>
                <a:ea typeface="Inter" pitchFamily="34" charset="-122"/>
                <a:cs typeface="Inter" pitchFamily="34" charset="-120"/>
              </a:rPr>
              <a:t>Decrease in Operational Costs</a:t>
            </a:r>
            <a:endParaRPr lang="en-US" dirty="0"/>
          </a:p>
        </p:txBody>
      </p:sp>
      <p:sp>
        <p:nvSpPr>
          <p:cNvPr id="15" name="Text 10"/>
          <p:cNvSpPr/>
          <p:nvPr/>
        </p:nvSpPr>
        <p:spPr>
          <a:xfrm>
            <a:off x="594241" y="7545520"/>
            <a:ext cx="6700838" cy="238244"/>
          </a:xfrm>
          <a:prstGeom prst="rect">
            <a:avLst/>
          </a:prstGeom>
          <a:noFill/>
          <a:ln/>
        </p:spPr>
        <p:txBody>
          <a:bodyPr wrap="none" lIns="0" tIns="0" rIns="0" bIns="0" rtlCol="0" anchor="t"/>
          <a:lstStyle/>
          <a:p>
            <a:pPr marL="0" indent="0" algn="ctr">
              <a:lnSpc>
                <a:spcPts val="1850"/>
              </a:lnSpc>
              <a:buNone/>
            </a:pPr>
            <a:r>
              <a:rPr lang="en-US" dirty="0">
                <a:solidFill>
                  <a:srgbClr val="FFFFFF"/>
                </a:solidFill>
                <a:latin typeface="Manrope" pitchFamily="34" charset="0"/>
                <a:ea typeface="Manrope" pitchFamily="34" charset="-122"/>
                <a:cs typeface="Manrope" pitchFamily="34" charset="-120"/>
              </a:rPr>
              <a:t>Due to optimised routes and improved efficiency</a:t>
            </a:r>
            <a:r>
              <a:rPr lang="en-US" sz="1150" dirty="0">
                <a:solidFill>
                  <a:srgbClr val="FFFFFF"/>
                </a:solidFill>
                <a:latin typeface="Manrope" pitchFamily="34" charset="0"/>
                <a:ea typeface="Manrope" pitchFamily="34" charset="-122"/>
                <a:cs typeface="Manrope" pitchFamily="34" charset="-120"/>
              </a:rPr>
              <a:t>.</a:t>
            </a:r>
            <a:endParaRPr lang="en-US" sz="1150" dirty="0"/>
          </a:p>
        </p:txBody>
      </p:sp>
      <p:sp>
        <p:nvSpPr>
          <p:cNvPr id="16" name="Text 11"/>
          <p:cNvSpPr/>
          <p:nvPr/>
        </p:nvSpPr>
        <p:spPr>
          <a:xfrm>
            <a:off x="9842421" y="5769769"/>
            <a:ext cx="1832134" cy="372308"/>
          </a:xfrm>
          <a:prstGeom prst="rect">
            <a:avLst/>
          </a:prstGeom>
          <a:noFill/>
          <a:ln/>
        </p:spPr>
        <p:txBody>
          <a:bodyPr wrap="none" lIns="0" tIns="0" rIns="0" bIns="0" rtlCol="0" anchor="t"/>
          <a:lstStyle/>
          <a:p>
            <a:pPr marL="0" indent="0" algn="ctr">
              <a:lnSpc>
                <a:spcPts val="2900"/>
              </a:lnSpc>
              <a:buNone/>
            </a:pPr>
            <a:r>
              <a:rPr lang="en-US" sz="2900" dirty="0">
                <a:solidFill>
                  <a:srgbClr val="000000"/>
                </a:solidFill>
                <a:latin typeface="Inter" pitchFamily="34" charset="0"/>
                <a:ea typeface="Inter" pitchFamily="34" charset="-122"/>
                <a:cs typeface="Inter" pitchFamily="34" charset="-120"/>
              </a:rPr>
              <a:t>15%</a:t>
            </a:r>
            <a:endParaRPr lang="en-US" sz="2900" dirty="0"/>
          </a:p>
        </p:txBody>
      </p:sp>
      <p:pic>
        <p:nvPicPr>
          <p:cNvPr id="17" name="Image 3" descr="preencoded.png"/>
          <p:cNvPicPr>
            <a:picLocks noChangeAspect="1"/>
          </p:cNvPicPr>
          <p:nvPr/>
        </p:nvPicPr>
        <p:blipFill>
          <a:blip r:embed="rId6"/>
          <a:stretch>
            <a:fillRect/>
          </a:stretch>
        </p:blipFill>
        <p:spPr>
          <a:xfrm>
            <a:off x="9641443" y="4838819"/>
            <a:ext cx="2234327" cy="2234327"/>
          </a:xfrm>
          <a:prstGeom prst="rect">
            <a:avLst/>
          </a:prstGeom>
        </p:spPr>
      </p:pic>
      <p:sp>
        <p:nvSpPr>
          <p:cNvPr id="18" name="Text 12"/>
          <p:cNvSpPr/>
          <p:nvPr/>
        </p:nvSpPr>
        <p:spPr>
          <a:xfrm>
            <a:off x="9311037" y="7210842"/>
            <a:ext cx="3103483" cy="232767"/>
          </a:xfrm>
          <a:prstGeom prst="rect">
            <a:avLst/>
          </a:prstGeom>
          <a:noFill/>
          <a:ln/>
        </p:spPr>
        <p:txBody>
          <a:bodyPr wrap="none" lIns="0" tIns="0" rIns="0" bIns="0" rtlCol="0" anchor="t"/>
          <a:lstStyle/>
          <a:p>
            <a:pPr algn="ctr">
              <a:lnSpc>
                <a:spcPts val="1800"/>
              </a:lnSpc>
            </a:pPr>
            <a:r>
              <a:rPr lang="en-IN" dirty="0">
                <a:solidFill>
                  <a:schemeClr val="bg1"/>
                </a:solidFill>
              </a:rPr>
              <a:t>Improved Public Trust &amp; Accountability</a:t>
            </a:r>
            <a:endParaRPr lang="en-US" dirty="0">
              <a:solidFill>
                <a:schemeClr val="bg1"/>
              </a:solidFill>
            </a:endParaRPr>
          </a:p>
        </p:txBody>
      </p:sp>
      <p:sp>
        <p:nvSpPr>
          <p:cNvPr id="19" name="Text 13"/>
          <p:cNvSpPr/>
          <p:nvPr/>
        </p:nvSpPr>
        <p:spPr>
          <a:xfrm>
            <a:off x="7408188" y="7581305"/>
            <a:ext cx="6700957" cy="238244"/>
          </a:xfrm>
          <a:prstGeom prst="rect">
            <a:avLst/>
          </a:prstGeom>
          <a:noFill/>
          <a:ln/>
        </p:spPr>
        <p:txBody>
          <a:bodyPr wrap="none" lIns="0" tIns="0" rIns="0" bIns="0" rtlCol="0" anchor="t"/>
          <a:lstStyle/>
          <a:p>
            <a:pPr marL="0" indent="0" algn="ctr">
              <a:lnSpc>
                <a:spcPts val="1850"/>
              </a:lnSpc>
              <a:buNone/>
            </a:pPr>
            <a:r>
              <a:rPr lang="en-US" dirty="0">
                <a:solidFill>
                  <a:srgbClr val="000000"/>
                </a:solidFill>
                <a:latin typeface="Manrope" pitchFamily="34" charset="0"/>
                <a:ea typeface="Manrope" pitchFamily="34" charset="-122"/>
                <a:cs typeface="Manrope" pitchFamily="34" charset="-120"/>
              </a:rPr>
              <a:t>From a cleaner environment and responsive services.</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7BAE963-CEBD-1742-668D-E5DF79178877}"/>
              </a:ext>
            </a:extLst>
          </p:cNvPr>
          <p:cNvPicPr>
            <a:picLocks noChangeAspect="1"/>
          </p:cNvPicPr>
          <p:nvPr/>
        </p:nvPicPr>
        <p:blipFill>
          <a:blip r:embed="rId2"/>
          <a:stretch>
            <a:fillRect/>
          </a:stretch>
        </p:blipFill>
        <p:spPr>
          <a:xfrm>
            <a:off x="844952" y="127323"/>
            <a:ext cx="12026096" cy="7905508"/>
          </a:xfrm>
          <a:prstGeom prst="rect">
            <a:avLst/>
          </a:prstGeom>
        </p:spPr>
        <p:style>
          <a:lnRef idx="2">
            <a:schemeClr val="dk1">
              <a:shade val="15000"/>
            </a:schemeClr>
          </a:lnRef>
          <a:fillRef idx="1">
            <a:schemeClr val="dk1"/>
          </a:fillRef>
          <a:effectRef idx="0">
            <a:schemeClr val="dk1"/>
          </a:effectRef>
          <a:fontRef idx="minor">
            <a:schemeClr val="lt1"/>
          </a:fontRef>
        </p:style>
      </p:pic>
    </p:spTree>
    <p:extLst>
      <p:ext uri="{BB962C8B-B14F-4D97-AF65-F5344CB8AC3E}">
        <p14:creationId xmlns:p14="http://schemas.microsoft.com/office/powerpoint/2010/main" val="38984873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DCA518-6B3F-3B96-E719-A45A6ED66843}"/>
              </a:ext>
            </a:extLst>
          </p:cNvPr>
          <p:cNvSpPr txBox="1"/>
          <p:nvPr/>
        </p:nvSpPr>
        <p:spPr>
          <a:xfrm>
            <a:off x="775503" y="341982"/>
            <a:ext cx="12164993" cy="707886"/>
          </a:xfrm>
          <a:prstGeom prst="rect">
            <a:avLst/>
          </a:prstGeom>
          <a:noFill/>
        </p:spPr>
        <p:txBody>
          <a:bodyPr wrap="square">
            <a:spAutoFit/>
          </a:bodyPr>
          <a:lstStyle/>
          <a:p>
            <a:r>
              <a:rPr lang="en-US" sz="4000" b="1" dirty="0">
                <a:solidFill>
                  <a:srgbClr val="C00000"/>
                </a:solidFill>
              </a:rPr>
              <a:t>Real-Life Usage Scenario: From Complaint to Resolution</a:t>
            </a:r>
            <a:endParaRPr lang="en-IN" sz="4000" dirty="0">
              <a:solidFill>
                <a:srgbClr val="C00000"/>
              </a:solidFill>
            </a:endParaRPr>
          </a:p>
        </p:txBody>
      </p:sp>
      <p:sp>
        <p:nvSpPr>
          <p:cNvPr id="5" name="TextBox 4">
            <a:extLst>
              <a:ext uri="{FF2B5EF4-FFF2-40B4-BE49-F238E27FC236}">
                <a16:creationId xmlns:a16="http://schemas.microsoft.com/office/drawing/2014/main" id="{41BB0C16-E410-2891-309B-2B51F8FEB29B}"/>
              </a:ext>
            </a:extLst>
          </p:cNvPr>
          <p:cNvSpPr txBox="1"/>
          <p:nvPr/>
        </p:nvSpPr>
        <p:spPr>
          <a:xfrm>
            <a:off x="138896" y="1327661"/>
            <a:ext cx="14387331" cy="7355860"/>
          </a:xfrm>
          <a:prstGeom prst="rect">
            <a:avLst/>
          </a:prstGeom>
          <a:noFill/>
        </p:spPr>
        <p:txBody>
          <a:bodyPr wrap="square">
            <a:spAutoFit/>
          </a:bodyPr>
          <a:lstStyle/>
          <a:p>
            <a:r>
              <a:rPr lang="en-US" sz="2800" b="1" dirty="0">
                <a:solidFill>
                  <a:schemeClr val="accent2">
                    <a:lumMod val="50000"/>
                  </a:schemeClr>
                </a:solidFill>
              </a:rPr>
              <a:t>1. A Worker Finishes Their Route (11:00 AM)</a:t>
            </a:r>
            <a:endParaRPr lang="en-US" sz="2800" dirty="0">
              <a:solidFill>
                <a:schemeClr val="accent2">
                  <a:lumMod val="50000"/>
                </a:schemeClr>
              </a:solidFill>
            </a:endParaRPr>
          </a:p>
          <a:p>
            <a:r>
              <a:rPr lang="en-US" sz="2400" dirty="0"/>
              <a:t>A sanitation worker completes their assigned area and reports their route as "Finished" for the day.</a:t>
            </a:r>
          </a:p>
          <a:p>
            <a:r>
              <a:rPr lang="en-US" sz="2400" dirty="0"/>
              <a:t>In a normal system, the supervisor would have to take this report at face value.</a:t>
            </a:r>
          </a:p>
          <a:p>
            <a:r>
              <a:rPr lang="en-US" sz="2800" b="1" dirty="0">
                <a:solidFill>
                  <a:schemeClr val="accent2">
                    <a:lumMod val="50000"/>
                  </a:schemeClr>
                </a:solidFill>
              </a:rPr>
              <a:t>2. The System Flags a Problem (11:01 AM)</a:t>
            </a:r>
            <a:endParaRPr lang="en-US" sz="2800" dirty="0">
              <a:solidFill>
                <a:schemeClr val="accent2">
                  <a:lumMod val="50000"/>
                </a:schemeClr>
              </a:solidFill>
            </a:endParaRPr>
          </a:p>
          <a:p>
            <a:r>
              <a:rPr lang="en-US" sz="2400" dirty="0"/>
              <a:t>The supervisor looks at the </a:t>
            </a:r>
            <a:r>
              <a:rPr lang="en-US" sz="2400" dirty="0" err="1"/>
              <a:t>TrashTracer</a:t>
            </a:r>
            <a:r>
              <a:rPr lang="en-US" sz="2400" dirty="0"/>
              <a:t> AI dashboard.</a:t>
            </a:r>
          </a:p>
          <a:p>
            <a:r>
              <a:rPr lang="en-US" sz="2400" dirty="0"/>
              <a:t>The AI engine has already cross-referenced the worker's "Finished" report with the actual GPS track from their Smart ID Card.</a:t>
            </a:r>
          </a:p>
          <a:p>
            <a:r>
              <a:rPr lang="en-US" sz="2400" dirty="0"/>
              <a:t>The system automatically flags a </a:t>
            </a:r>
            <a:r>
              <a:rPr lang="en-US" sz="2400" b="1" dirty="0"/>
              <a:t>discrepancy</a:t>
            </a:r>
            <a:r>
              <a:rPr lang="en-US" sz="2400" dirty="0"/>
              <a:t>: The GPS data shows the worker completely skipped two high-density streets on their assigned route. A red alert icon appears next to that worker's status.</a:t>
            </a:r>
          </a:p>
          <a:p>
            <a:r>
              <a:rPr lang="en-US" sz="2800" b="1" dirty="0">
                <a:solidFill>
                  <a:schemeClr val="accent2">
                    <a:lumMod val="50000"/>
                  </a:schemeClr>
                </a:solidFill>
              </a:rPr>
              <a:t>3. The Authority Takes Control (11:02 AM)</a:t>
            </a:r>
            <a:endParaRPr lang="en-US" sz="2800" dirty="0">
              <a:solidFill>
                <a:schemeClr val="accent2">
                  <a:lumMod val="50000"/>
                </a:schemeClr>
              </a:solidFill>
            </a:endParaRPr>
          </a:p>
          <a:p>
            <a:r>
              <a:rPr lang="en-US" sz="2400" dirty="0"/>
              <a:t>The supervisor clicks the alert. The dashboard instantly displays a map showing the worker's actual path next to the officially assigned route, clearly highlighting the two missed streets.</a:t>
            </a:r>
          </a:p>
          <a:p>
            <a:r>
              <a:rPr lang="en-US" sz="2400" dirty="0"/>
              <a:t>There is no argument or guesswork. The supervisor has </a:t>
            </a:r>
            <a:r>
              <a:rPr lang="en-US" sz="2400" b="1" dirty="0"/>
              <a:t>irrefutable, data-driven proof</a:t>
            </a:r>
            <a:r>
              <a:rPr lang="en-US" sz="2400" dirty="0"/>
              <a:t> of the incomplete work.</a:t>
            </a:r>
          </a:p>
          <a:p>
            <a:r>
              <a:rPr lang="en-US" sz="2800" b="1" dirty="0">
                <a:solidFill>
                  <a:schemeClr val="accent2">
                    <a:lumMod val="50000"/>
                  </a:schemeClr>
                </a:solidFill>
              </a:rPr>
              <a:t>4. The Outcome: True Accountability (11:15 AM)</a:t>
            </a:r>
            <a:endParaRPr lang="en-US" sz="2800" dirty="0">
              <a:solidFill>
                <a:schemeClr val="accent2">
                  <a:lumMod val="50000"/>
                </a:schemeClr>
              </a:solidFill>
            </a:endParaRPr>
          </a:p>
          <a:p>
            <a:r>
              <a:rPr lang="en-US" sz="2400" dirty="0"/>
              <a:t>The supervisor dispatches a different worker to cover the missed streets, preventing citizen complaints before they even happen.</a:t>
            </a:r>
          </a:p>
          <a:p>
            <a:r>
              <a:rPr lang="en-US" sz="2400" dirty="0"/>
              <a:t>Most importantly, the incident is automatically logged in the system as a "Service Deviation." This data is used for the worker's performance review and helps identify patterns of poor service, ensuring long-term accountability.</a:t>
            </a:r>
          </a:p>
          <a:p>
            <a:pPr>
              <a:buNone/>
            </a:pPr>
            <a:endParaRPr lang="en-US" sz="2400" dirty="0">
              <a:solidFill>
                <a:srgbClr val="002060"/>
              </a:solidFill>
            </a:endParaRPr>
          </a:p>
        </p:txBody>
      </p:sp>
    </p:spTree>
    <p:extLst>
      <p:ext uri="{BB962C8B-B14F-4D97-AF65-F5344CB8AC3E}">
        <p14:creationId xmlns:p14="http://schemas.microsoft.com/office/powerpoint/2010/main" val="7783676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265882A-5C4A-B6E8-7072-312D2A944677}"/>
              </a:ext>
            </a:extLst>
          </p:cNvPr>
          <p:cNvPicPr>
            <a:picLocks noChangeAspect="1"/>
          </p:cNvPicPr>
          <p:nvPr/>
        </p:nvPicPr>
        <p:blipFill>
          <a:blip r:embed="rId2"/>
          <a:stretch>
            <a:fillRect/>
          </a:stretch>
        </p:blipFill>
        <p:spPr>
          <a:xfrm>
            <a:off x="497711" y="439838"/>
            <a:ext cx="13600254" cy="7558268"/>
          </a:xfrm>
          <a:prstGeom prst="rect">
            <a:avLst/>
          </a:prstGeom>
        </p:spPr>
      </p:pic>
    </p:spTree>
    <p:extLst>
      <p:ext uri="{BB962C8B-B14F-4D97-AF65-F5344CB8AC3E}">
        <p14:creationId xmlns:p14="http://schemas.microsoft.com/office/powerpoint/2010/main" val="20844390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959763"/>
            <a:ext cx="9231273" cy="566976"/>
          </a:xfrm>
          <a:prstGeom prst="rect">
            <a:avLst/>
          </a:prstGeom>
          <a:noFill/>
          <a:ln/>
        </p:spPr>
        <p:txBody>
          <a:bodyPr wrap="none" lIns="0" tIns="0" rIns="0" bIns="0" rtlCol="0" anchor="t"/>
          <a:lstStyle/>
          <a:p>
            <a:pPr marL="0" indent="0" algn="l">
              <a:lnSpc>
                <a:spcPts val="4450"/>
              </a:lnSpc>
              <a:buNone/>
            </a:pPr>
            <a:r>
              <a:rPr lang="en-US" sz="3550" dirty="0">
                <a:solidFill>
                  <a:srgbClr val="0C0D0F"/>
                </a:solidFill>
                <a:latin typeface="Inter" pitchFamily="34" charset="0"/>
                <a:ea typeface="Inter" pitchFamily="34" charset="-122"/>
                <a:cs typeface="Inter" pitchFamily="34" charset="-120"/>
              </a:rPr>
              <a:t>Next Steps: Partnering for a Cleaner Future</a:t>
            </a:r>
            <a:endParaRPr lang="en-US" sz="3550" dirty="0"/>
          </a:p>
        </p:txBody>
      </p:sp>
      <p:sp>
        <p:nvSpPr>
          <p:cNvPr id="3" name="Text 1"/>
          <p:cNvSpPr/>
          <p:nvPr/>
        </p:nvSpPr>
        <p:spPr>
          <a:xfrm>
            <a:off x="793790" y="1980367"/>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55575A"/>
                </a:solidFill>
                <a:latin typeface="Manrope" pitchFamily="34" charset="0"/>
                <a:ea typeface="Manrope" pitchFamily="34" charset="-122"/>
                <a:cs typeface="Manrope" pitchFamily="34" charset="-120"/>
              </a:rPr>
              <a:t>We invite city and municipal authorities to explore how TrashTracer AI can revolutionise your waste management systems.</a:t>
            </a:r>
            <a:endParaRPr lang="en-US" sz="1750" dirty="0"/>
          </a:p>
        </p:txBody>
      </p:sp>
      <p:sp>
        <p:nvSpPr>
          <p:cNvPr id="4" name="Text 2"/>
          <p:cNvSpPr/>
          <p:nvPr/>
        </p:nvSpPr>
        <p:spPr>
          <a:xfrm>
            <a:off x="793790" y="2825234"/>
            <a:ext cx="4540568" cy="354330"/>
          </a:xfrm>
          <a:prstGeom prst="rect">
            <a:avLst/>
          </a:prstGeom>
          <a:noFill/>
          <a:ln/>
        </p:spPr>
        <p:txBody>
          <a:bodyPr wrap="none" lIns="0" tIns="0" rIns="0" bIns="0" rtlCol="0" anchor="t"/>
          <a:lstStyle/>
          <a:p>
            <a:pPr marL="0" indent="0" algn="l">
              <a:lnSpc>
                <a:spcPts val="2750"/>
              </a:lnSpc>
              <a:buNone/>
            </a:pPr>
            <a:r>
              <a:rPr lang="en-US" sz="2200" dirty="0">
                <a:solidFill>
                  <a:srgbClr val="0C0D0F"/>
                </a:solidFill>
                <a:latin typeface="Inter" pitchFamily="34" charset="0"/>
                <a:ea typeface="Inter" pitchFamily="34" charset="-122"/>
                <a:cs typeface="Inter" pitchFamily="34" charset="-120"/>
              </a:rPr>
              <a:t>Schedule a Comprehensive Demo</a:t>
            </a:r>
            <a:endParaRPr lang="en-US" sz="2200" dirty="0"/>
          </a:p>
        </p:txBody>
      </p:sp>
      <p:sp>
        <p:nvSpPr>
          <p:cNvPr id="5" name="Text 3"/>
          <p:cNvSpPr/>
          <p:nvPr/>
        </p:nvSpPr>
        <p:spPr>
          <a:xfrm>
            <a:off x="793790" y="3406378"/>
            <a:ext cx="6244709" cy="1088708"/>
          </a:xfrm>
          <a:prstGeom prst="rect">
            <a:avLst/>
          </a:prstGeom>
          <a:noFill/>
          <a:ln/>
        </p:spPr>
        <p:txBody>
          <a:bodyPr wrap="square" lIns="0" tIns="0" rIns="0" bIns="0" rtlCol="0" anchor="t"/>
          <a:lstStyle/>
          <a:p>
            <a:pPr marL="0" indent="0" algn="l">
              <a:lnSpc>
                <a:spcPts val="2850"/>
              </a:lnSpc>
              <a:buNone/>
            </a:pPr>
            <a:r>
              <a:rPr lang="en-US" sz="1750" dirty="0">
                <a:solidFill>
                  <a:srgbClr val="55575A"/>
                </a:solidFill>
                <a:latin typeface="Manrope" pitchFamily="34" charset="0"/>
                <a:ea typeface="Manrope" pitchFamily="34" charset="-122"/>
                <a:cs typeface="Manrope" pitchFamily="34" charset="-120"/>
              </a:rPr>
              <a:t>Experience TrashTracer AI first-hand with a tailored demonstration focusing on your specific needs and challenges.</a:t>
            </a:r>
            <a:endParaRPr lang="en-US" sz="1750" dirty="0"/>
          </a:p>
        </p:txBody>
      </p:sp>
      <p:pic>
        <p:nvPicPr>
          <p:cNvPr id="6" name="Image 0" descr="preencoded.png">
            <a:hlinkClick r:id="rId3"/>
          </p:cNvPr>
          <p:cNvPicPr>
            <a:picLocks noChangeAspect="1"/>
          </p:cNvPicPr>
          <p:nvPr/>
        </p:nvPicPr>
        <p:blipFill>
          <a:blip r:embed="rId4"/>
          <a:stretch>
            <a:fillRect/>
          </a:stretch>
        </p:blipFill>
        <p:spPr>
          <a:xfrm>
            <a:off x="793790" y="4750237"/>
            <a:ext cx="1835229" cy="623768"/>
          </a:xfrm>
          <a:prstGeom prst="rect">
            <a:avLst/>
          </a:prstGeom>
        </p:spPr>
      </p:pic>
      <p:sp>
        <p:nvSpPr>
          <p:cNvPr id="7" name="Text 4"/>
          <p:cNvSpPr/>
          <p:nvPr/>
        </p:nvSpPr>
        <p:spPr>
          <a:xfrm>
            <a:off x="7599521" y="2825234"/>
            <a:ext cx="4748332" cy="354330"/>
          </a:xfrm>
          <a:prstGeom prst="rect">
            <a:avLst/>
          </a:prstGeom>
          <a:noFill/>
          <a:ln/>
        </p:spPr>
        <p:txBody>
          <a:bodyPr wrap="none" lIns="0" tIns="0" rIns="0" bIns="0" rtlCol="0" anchor="t"/>
          <a:lstStyle/>
          <a:p>
            <a:pPr marL="0" indent="0" algn="l">
              <a:lnSpc>
                <a:spcPts val="2750"/>
              </a:lnSpc>
              <a:buNone/>
            </a:pPr>
            <a:r>
              <a:rPr lang="en-US" sz="2200" dirty="0">
                <a:solidFill>
                  <a:srgbClr val="0C0D0F"/>
                </a:solidFill>
                <a:latin typeface="Inter" pitchFamily="34" charset="0"/>
                <a:ea typeface="Inter" pitchFamily="34" charset="-122"/>
                <a:cs typeface="Inter" pitchFamily="34" charset="-120"/>
              </a:rPr>
              <a:t>Consultation &amp; Implementation Plan</a:t>
            </a:r>
            <a:endParaRPr lang="en-US" sz="2200" dirty="0"/>
          </a:p>
        </p:txBody>
      </p:sp>
      <p:sp>
        <p:nvSpPr>
          <p:cNvPr id="8" name="Text 5"/>
          <p:cNvSpPr/>
          <p:nvPr/>
        </p:nvSpPr>
        <p:spPr>
          <a:xfrm>
            <a:off x="7599521" y="3406378"/>
            <a:ext cx="6244709" cy="1088708"/>
          </a:xfrm>
          <a:prstGeom prst="rect">
            <a:avLst/>
          </a:prstGeom>
          <a:noFill/>
          <a:ln/>
        </p:spPr>
        <p:txBody>
          <a:bodyPr wrap="square" lIns="0" tIns="0" rIns="0" bIns="0" rtlCol="0" anchor="t"/>
          <a:lstStyle/>
          <a:p>
            <a:pPr marL="0" indent="0" algn="l">
              <a:lnSpc>
                <a:spcPts val="2850"/>
              </a:lnSpc>
              <a:buNone/>
            </a:pPr>
            <a:r>
              <a:rPr lang="en-US" sz="1750" dirty="0">
                <a:solidFill>
                  <a:srgbClr val="55575A"/>
                </a:solidFill>
                <a:latin typeface="Manrope" pitchFamily="34" charset="0"/>
                <a:ea typeface="Manrope" pitchFamily="34" charset="-122"/>
                <a:cs typeface="Manrope" pitchFamily="34" charset="-120"/>
              </a:rPr>
              <a:t>Our experts will work with you to develop a bespoke implementation strategy, ensuring seamless integration and maximum impact.</a:t>
            </a:r>
            <a:endParaRPr lang="en-US" sz="1750" dirty="0"/>
          </a:p>
        </p:txBody>
      </p:sp>
      <p:pic>
        <p:nvPicPr>
          <p:cNvPr id="9" name="Image 1" descr="preencoded.png">
            <a:hlinkClick r:id="rId3"/>
          </p:cNvPr>
          <p:cNvPicPr>
            <a:picLocks noChangeAspect="1"/>
          </p:cNvPicPr>
          <p:nvPr/>
        </p:nvPicPr>
        <p:blipFill>
          <a:blip r:embed="rId5"/>
          <a:stretch>
            <a:fillRect/>
          </a:stretch>
        </p:blipFill>
        <p:spPr>
          <a:xfrm>
            <a:off x="7599521" y="4750237"/>
            <a:ext cx="1675090" cy="623768"/>
          </a:xfrm>
          <a:prstGeom prst="rect">
            <a:avLst/>
          </a:prstGeom>
        </p:spPr>
      </p:pic>
      <p:sp>
        <p:nvSpPr>
          <p:cNvPr id="10" name="Shape 6"/>
          <p:cNvSpPr/>
          <p:nvPr/>
        </p:nvSpPr>
        <p:spPr>
          <a:xfrm>
            <a:off x="793790" y="5997687"/>
            <a:ext cx="13042821" cy="35957"/>
          </a:xfrm>
          <a:prstGeom prst="rect">
            <a:avLst/>
          </a:prstGeom>
          <a:solidFill>
            <a:srgbClr val="55575A">
              <a:alpha val="50000"/>
            </a:srgbClr>
          </a:solidFill>
          <a:ln/>
        </p:spPr>
      </p:sp>
      <p:sp>
        <p:nvSpPr>
          <p:cNvPr id="11" name="Text 7"/>
          <p:cNvSpPr/>
          <p:nvPr/>
        </p:nvSpPr>
        <p:spPr>
          <a:xfrm>
            <a:off x="793790" y="6288762"/>
            <a:ext cx="13042821" cy="362903"/>
          </a:xfrm>
          <a:prstGeom prst="rect">
            <a:avLst/>
          </a:prstGeom>
          <a:noFill/>
          <a:ln/>
        </p:spPr>
        <p:txBody>
          <a:bodyPr wrap="none" lIns="0" tIns="0" rIns="0" bIns="0" rtlCol="0" anchor="t"/>
          <a:lstStyle/>
          <a:p>
            <a:pPr marL="0" indent="0" algn="ctr">
              <a:lnSpc>
                <a:spcPts val="2850"/>
              </a:lnSpc>
              <a:buNone/>
            </a:pPr>
            <a:r>
              <a:rPr lang="en-US" sz="1750" dirty="0">
                <a:solidFill>
                  <a:srgbClr val="55575A"/>
                </a:solidFill>
                <a:latin typeface="Manrope" pitchFamily="34" charset="0"/>
                <a:ea typeface="Manrope" pitchFamily="34" charset="-122"/>
                <a:cs typeface="Manrope" pitchFamily="34" charset="-120"/>
              </a:rPr>
              <a:t>Thank you.</a:t>
            </a:r>
            <a:endParaRPr lang="en-US" sz="1750" dirty="0"/>
          </a:p>
        </p:txBody>
      </p:sp>
      <p:sp>
        <p:nvSpPr>
          <p:cNvPr id="12" name="Text 8"/>
          <p:cNvSpPr/>
          <p:nvPr/>
        </p:nvSpPr>
        <p:spPr>
          <a:xfrm>
            <a:off x="793790" y="6906816"/>
            <a:ext cx="13042821" cy="362903"/>
          </a:xfrm>
          <a:prstGeom prst="rect">
            <a:avLst/>
          </a:prstGeom>
          <a:noFill/>
          <a:ln/>
        </p:spPr>
        <p:txBody>
          <a:bodyPr wrap="none" lIns="0" tIns="0" rIns="0" bIns="0" rtlCol="0" anchor="t"/>
          <a:lstStyle/>
          <a:p>
            <a:pPr marL="0" indent="0" algn="ctr">
              <a:lnSpc>
                <a:spcPts val="2850"/>
              </a:lnSpc>
              <a:buNone/>
            </a:pPr>
            <a:r>
              <a:rPr lang="en-US" sz="1750" dirty="0">
                <a:solidFill>
                  <a:srgbClr val="55575A"/>
                </a:solidFill>
                <a:latin typeface="Manrope" pitchFamily="34" charset="0"/>
                <a:ea typeface="Manrope" pitchFamily="34" charset="-122"/>
                <a:cs typeface="Manrope" pitchFamily="34" charset="-120"/>
              </a:rPr>
              <a:t>TrashTracer AI</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TotalTime>
  <Words>1576</Words>
  <Application>Microsoft Office PowerPoint</Application>
  <PresentationFormat>Custom</PresentationFormat>
  <Paragraphs>130</Paragraphs>
  <Slides>15</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Manrope</vt:lpstr>
      <vt:lpstr>Inter</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MANVI TIWARI</dc:creator>
  <cp:lastModifiedBy>Manvi Tiwari</cp:lastModifiedBy>
  <cp:revision>5</cp:revision>
  <dcterms:created xsi:type="dcterms:W3CDTF">2025-09-01T16:18:11Z</dcterms:created>
  <dcterms:modified xsi:type="dcterms:W3CDTF">2025-09-21T17:30:47Z</dcterms:modified>
</cp:coreProperties>
</file>